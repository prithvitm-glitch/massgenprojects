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4" Type="http://schemas.openxmlformats.org/officeDocument/2006/relationships/hyperlink" Target="https://quizizz.com/admin/quiz/5f3b8c6e5f2e4e001b0c7a1a" TargetMode="Externa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quizizz.com/admin/quiz/5f3b8c6e5f2e4e001b0c7a1b" TargetMode="Externa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03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3886200" y="457200"/>
            <a:ext cx="1371600" cy="1371600"/>
          </a:xfrm>
          <a:prstGeom prst="rect">
            <a:avLst/>
          </a:prstGeom>
        </p:spPr>
      </p:pic>
      <p:sp>
        <p:nvSpPr>
          <p:cNvPr id="4" name="Text 0"/>
          <p:cNvSpPr/>
          <p:nvPr/>
        </p:nvSpPr>
        <p:spPr>
          <a:xfrm>
            <a:off x="457200" y="1920240"/>
            <a:ext cx="8229600" cy="822960"/>
          </a:xfrm>
          <a:prstGeom prst="rect">
            <a:avLst/>
          </a:prstGeom>
          <a:noFill/>
          <a:ln/>
        </p:spPr>
        <p:txBody>
          <a:bodyPr wrap="square" lIns="0" tIns="0" rIns="0" bIns="0" rtlCol="0" anchor="ctr"/>
          <a:lstStyle/>
          <a:p>
            <a:pPr algn="ctr" indent="0" marL="0">
              <a:buNone/>
            </a:pPr>
            <a:r>
              <a:rPr lang="en-US" sz="4400" b="1" spc="400" kern="0" dirty="0">
                <a:solidFill>
                  <a:srgbClr val="FFFFFF"/>
                </a:solidFill>
                <a:latin typeface="Trebuchet MS" pitchFamily="34" charset="0"/>
                <a:ea typeface="Trebuchet MS" pitchFamily="34" charset="-122"/>
                <a:cs typeface="Trebuchet MS" pitchFamily="34" charset="-120"/>
              </a:rPr>
              <a:t>QUANTUM COMPUTING</a:t>
            </a:r>
            <a:endParaRPr lang="en-US" sz="4400" dirty="0"/>
          </a:p>
        </p:txBody>
      </p:sp>
      <p:sp>
        <p:nvSpPr>
          <p:cNvPr id="5" name="Text 1"/>
          <p:cNvSpPr/>
          <p:nvPr/>
        </p:nvSpPr>
        <p:spPr>
          <a:xfrm>
            <a:off x="457200" y="2697480"/>
            <a:ext cx="8229600" cy="548640"/>
          </a:xfrm>
          <a:prstGeom prst="rect">
            <a:avLst/>
          </a:prstGeom>
          <a:noFill/>
          <a:ln/>
        </p:spPr>
        <p:txBody>
          <a:bodyPr wrap="square" lIns="0" tIns="0" rIns="0" bIns="0" rtlCol="0" anchor="ctr"/>
          <a:lstStyle/>
          <a:p>
            <a:pPr algn="ctr" indent="0" marL="0">
              <a:buNone/>
            </a:pPr>
            <a:r>
              <a:rPr lang="en-US" sz="2000" i="1" dirty="0">
                <a:solidFill>
                  <a:srgbClr val="00D4AA"/>
                </a:solidFill>
                <a:latin typeface="Calibri" pitchFamily="34" charset="0"/>
                <a:ea typeface="Calibri" pitchFamily="34" charset="-122"/>
                <a:cs typeface="Calibri" pitchFamily="34" charset="-120"/>
              </a:rPr>
              <a:t>Navigating the Maze of the Future</a:t>
            </a:r>
            <a:endParaRPr lang="en-US" sz="2000" dirty="0"/>
          </a:p>
        </p:txBody>
      </p:sp>
      <p:sp>
        <p:nvSpPr>
          <p:cNvPr id="6" name="Text 2"/>
          <p:cNvSpPr/>
          <p:nvPr/>
        </p:nvSpPr>
        <p:spPr>
          <a:xfrm>
            <a:off x="457200" y="3337560"/>
            <a:ext cx="8229600" cy="457200"/>
          </a:xfrm>
          <a:prstGeom prst="rect">
            <a:avLst/>
          </a:prstGeom>
          <a:noFill/>
          <a:ln/>
        </p:spPr>
        <p:txBody>
          <a:bodyPr wrap="square" lIns="0" tIns="0" rIns="0" bIns="0" rtlCol="0" anchor="ctr"/>
          <a:lstStyle/>
          <a:p>
            <a:pPr algn="ctr" indent="0" marL="0">
              <a:buNone/>
            </a:pPr>
            <a:r>
              <a:rPr lang="en-US" sz="1400" dirty="0">
                <a:solidFill>
                  <a:srgbClr val="A09CB0"/>
                </a:solidFill>
                <a:latin typeface="Calibri" pitchFamily="34" charset="0"/>
                <a:ea typeface="Calibri" pitchFamily="34" charset="-122"/>
                <a:cs typeface="Calibri" pitchFamily="34" charset="-120"/>
              </a:rPr>
              <a:t>A Visual Journey for High School Explorers</a:t>
            </a:r>
            <a:endParaRPr lang="en-US" sz="1400" dirty="0"/>
          </a:p>
        </p:txBody>
      </p:sp>
      <p:sp>
        <p:nvSpPr>
          <p:cNvPr id="7" name="Shape 3"/>
          <p:cNvSpPr/>
          <p:nvPr/>
        </p:nvSpPr>
        <p:spPr>
          <a:xfrm>
            <a:off x="0" y="4663440"/>
            <a:ext cx="9144000" cy="480060"/>
          </a:xfrm>
          <a:prstGeom prst="rect">
            <a:avLst/>
          </a:prstGeom>
          <a:solidFill>
            <a:srgbClr val="6C3CE1">
              <a:alpha val="60000"/>
            </a:srgbClr>
          </a:solidFill>
          <a:ln/>
        </p:spPr>
      </p:sp>
      <p:sp>
        <p:nvSpPr>
          <p:cNvPr id="8" name="Text 4"/>
          <p:cNvSpPr/>
          <p:nvPr/>
        </p:nvSpPr>
        <p:spPr>
          <a:xfrm>
            <a:off x="457200" y="4663440"/>
            <a:ext cx="8229600" cy="4800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Think of quantum computing as learning to navigate a maze — but with superpowers.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ECF9"/>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1A1035"/>
                </a:solidFill>
                <a:latin typeface="Trebuchet MS" pitchFamily="34" charset="0"/>
                <a:ea typeface="Trebuchet MS" pitchFamily="34" charset="-122"/>
                <a:cs typeface="Trebuchet MS" pitchFamily="34" charset="-120"/>
              </a:rPr>
              <a:t>What Is a Computer, Really?</a:t>
            </a:r>
            <a:endParaRPr lang="en-US" sz="3200" dirty="0"/>
          </a:p>
        </p:txBody>
      </p:sp>
      <p:sp>
        <p:nvSpPr>
          <p:cNvPr id="3" name="Text 1"/>
          <p:cNvSpPr/>
          <p:nvPr/>
        </p:nvSpPr>
        <p:spPr>
          <a:xfrm>
            <a:off x="457200" y="868680"/>
            <a:ext cx="2743200" cy="365760"/>
          </a:xfrm>
          <a:prstGeom prst="rect">
            <a:avLst/>
          </a:prstGeom>
          <a:noFill/>
          <a:ln/>
        </p:spPr>
        <p:txBody>
          <a:bodyPr wrap="square" lIns="0" tIns="0" rIns="0" bIns="0" rtlCol="0" anchor="ctr"/>
          <a:lstStyle/>
          <a:p>
            <a:pPr indent="0" marL="0">
              <a:buNone/>
            </a:pPr>
            <a:r>
              <a:rPr lang="en-US" sz="1400" i="1" dirty="0">
                <a:solidFill>
                  <a:srgbClr val="6C3CE1"/>
                </a:solidFill>
                <a:latin typeface="Calibri" pitchFamily="34" charset="0"/>
                <a:ea typeface="Calibri" pitchFamily="34" charset="-122"/>
                <a:cs typeface="Calibri" pitchFamily="34" charset="-120"/>
              </a:rPr>
              <a:t>The Maze Begins</a:t>
            </a:r>
            <a:endParaRPr lang="en-US" sz="1400" dirty="0"/>
          </a:p>
        </p:txBody>
      </p:sp>
      <p:sp>
        <p:nvSpPr>
          <p:cNvPr id="4" name="Shape 2"/>
          <p:cNvSpPr/>
          <p:nvPr/>
        </p:nvSpPr>
        <p:spPr>
          <a:xfrm>
            <a:off x="457200" y="1463040"/>
            <a:ext cx="3840480" cy="310896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5" name="Shape 3"/>
          <p:cNvSpPr/>
          <p:nvPr/>
        </p:nvSpPr>
        <p:spPr>
          <a:xfrm>
            <a:off x="457200" y="1463040"/>
            <a:ext cx="3840480" cy="73152"/>
          </a:xfrm>
          <a:prstGeom prst="rect">
            <a:avLst/>
          </a:prstGeom>
          <a:solidFill>
            <a:srgbClr val="6C3CE1"/>
          </a:solidFill>
          <a:ln/>
        </p:spPr>
      </p:sp>
      <p:pic>
        <p:nvPicPr>
          <p:cNvPr id="6" name="Image 0" descr="preencoded.png">    </p:cNvPr>
          <p:cNvPicPr>
            <a:picLocks noChangeAspect="1"/>
          </p:cNvPicPr>
          <p:nvPr/>
        </p:nvPicPr>
        <p:blipFill>
          <a:blip r:embed="rId1"/>
          <a:stretch>
            <a:fillRect/>
          </a:stretch>
        </p:blipFill>
        <p:spPr>
          <a:xfrm>
            <a:off x="731520" y="1691640"/>
            <a:ext cx="457200" cy="457200"/>
          </a:xfrm>
          <a:prstGeom prst="rect">
            <a:avLst/>
          </a:prstGeom>
        </p:spPr>
      </p:pic>
      <p:sp>
        <p:nvSpPr>
          <p:cNvPr id="7" name="Text 4"/>
          <p:cNvSpPr/>
          <p:nvPr/>
        </p:nvSpPr>
        <p:spPr>
          <a:xfrm>
            <a:off x="1325880" y="1691640"/>
            <a:ext cx="2743200" cy="457200"/>
          </a:xfrm>
          <a:prstGeom prst="rect">
            <a:avLst/>
          </a:prstGeom>
          <a:noFill/>
          <a:ln/>
        </p:spPr>
        <p:txBody>
          <a:bodyPr wrap="square" lIns="0" tIns="0" rIns="0" bIns="0" rtlCol="0" anchor="ctr"/>
          <a:lstStyle/>
          <a:p>
            <a:pPr indent="0" marL="0">
              <a:buNone/>
            </a:pPr>
            <a:r>
              <a:rPr lang="en-US" sz="1800" b="1" dirty="0">
                <a:solidFill>
                  <a:srgbClr val="1A1035"/>
                </a:solidFill>
                <a:latin typeface="Trebuchet MS" pitchFamily="34" charset="0"/>
                <a:ea typeface="Trebuchet MS" pitchFamily="34" charset="-122"/>
                <a:cs typeface="Trebuchet MS" pitchFamily="34" charset="-120"/>
              </a:rPr>
              <a:t>Classical Computer</a:t>
            </a:r>
            <a:endParaRPr lang="en-US" sz="1800" dirty="0"/>
          </a:p>
        </p:txBody>
      </p:sp>
      <p:sp>
        <p:nvSpPr>
          <p:cNvPr id="8" name="Text 5"/>
          <p:cNvSpPr/>
          <p:nvPr/>
        </p:nvSpPr>
        <p:spPr>
          <a:xfrm>
            <a:off x="731520" y="2331720"/>
            <a:ext cx="3291840" cy="2011680"/>
          </a:xfrm>
          <a:prstGeom prst="rect">
            <a:avLst/>
          </a:prstGeom>
          <a:noFill/>
          <a:ln/>
        </p:spPr>
        <p:txBody>
          <a:bodyPr wrap="square" lIns="0" tIns="0" rIns="0" bIns="0" rtlCol="0" anchor="t"/>
          <a:lstStyle/>
          <a:p>
            <a:pPr algn="l" indent="0" marL="0">
              <a:lnSpc>
                <a:spcPct val="130000"/>
              </a:lnSpc>
              <a:buNone/>
            </a:pPr>
            <a:r>
              <a:rPr lang="en-US" sz="1300" dirty="0">
                <a:solidFill>
                  <a:srgbClr val="1A1035"/>
                </a:solidFill>
                <a:latin typeface="Calibri" pitchFamily="34" charset="0"/>
                <a:ea typeface="Calibri" pitchFamily="34" charset="-122"/>
                <a:cs typeface="Calibri" pitchFamily="34" charset="-120"/>
              </a:rPr>
              <a:t>Imagine a maze where you can only walk one path at a time. You try a route, hit a dead end, backtrack, and try another. This is how a classical computer works — solving problems one step at a time using bits that are either 0 or 1. Powerful, but patient.</a:t>
            </a:r>
            <a:endParaRPr lang="en-US" sz="1300" dirty="0"/>
          </a:p>
        </p:txBody>
      </p:sp>
      <p:sp>
        <p:nvSpPr>
          <p:cNvPr id="9" name="Shape 6"/>
          <p:cNvSpPr/>
          <p:nvPr/>
        </p:nvSpPr>
        <p:spPr>
          <a:xfrm>
            <a:off x="4846320" y="1463040"/>
            <a:ext cx="3840480" cy="3108960"/>
          </a:xfrm>
          <a:prstGeom prst="rect">
            <a:avLst/>
          </a:prstGeom>
          <a:solidFill>
            <a:srgbClr val="251A4A"/>
          </a:solidFill>
          <a:ln/>
          <a:effectLst>
            <a:outerShdw sx="100000" sy="100000" kx="0" ky="0" algn="bl" rotWithShape="0" blurRad="101600" dist="38100" dir="8100000">
              <a:srgbClr val="000000">
                <a:alpha val="25000"/>
              </a:srgbClr>
            </a:outerShdw>
          </a:effectLst>
        </p:spPr>
      </p:sp>
      <p:sp>
        <p:nvSpPr>
          <p:cNvPr id="10" name="Shape 7"/>
          <p:cNvSpPr/>
          <p:nvPr/>
        </p:nvSpPr>
        <p:spPr>
          <a:xfrm>
            <a:off x="4846320" y="1463040"/>
            <a:ext cx="3840480" cy="73152"/>
          </a:xfrm>
          <a:prstGeom prst="rect">
            <a:avLst/>
          </a:prstGeom>
          <a:solidFill>
            <a:srgbClr val="00D4AA"/>
          </a:solidFill>
          <a:ln/>
        </p:spPr>
      </p:sp>
      <p:pic>
        <p:nvPicPr>
          <p:cNvPr id="11" name="Image 1" descr="preencoded.png">    </p:cNvPr>
          <p:cNvPicPr>
            <a:picLocks noChangeAspect="1"/>
          </p:cNvPicPr>
          <p:nvPr/>
        </p:nvPicPr>
        <p:blipFill>
          <a:blip r:embed="rId2"/>
          <a:stretch>
            <a:fillRect/>
          </a:stretch>
        </p:blipFill>
        <p:spPr>
          <a:xfrm>
            <a:off x="5120640" y="1691640"/>
            <a:ext cx="457200" cy="457200"/>
          </a:xfrm>
          <a:prstGeom prst="rect">
            <a:avLst/>
          </a:prstGeom>
        </p:spPr>
      </p:pic>
      <p:sp>
        <p:nvSpPr>
          <p:cNvPr id="12" name="Text 8"/>
          <p:cNvSpPr/>
          <p:nvPr/>
        </p:nvSpPr>
        <p:spPr>
          <a:xfrm>
            <a:off x="5715000" y="1691640"/>
            <a:ext cx="2743200" cy="457200"/>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Quantum Computer</a:t>
            </a:r>
            <a:endParaRPr lang="en-US" sz="1800" dirty="0"/>
          </a:p>
        </p:txBody>
      </p:sp>
      <p:sp>
        <p:nvSpPr>
          <p:cNvPr id="13" name="Text 9"/>
          <p:cNvSpPr/>
          <p:nvPr/>
        </p:nvSpPr>
        <p:spPr>
          <a:xfrm>
            <a:off x="5120640" y="2331720"/>
            <a:ext cx="3291840" cy="2011680"/>
          </a:xfrm>
          <a:prstGeom prst="rect">
            <a:avLst/>
          </a:prstGeom>
          <a:noFill/>
          <a:ln/>
        </p:spPr>
        <p:txBody>
          <a:bodyPr wrap="square" lIns="0" tIns="0" rIns="0" bIns="0" rtlCol="0" anchor="t"/>
          <a:lstStyle/>
          <a:p>
            <a:pPr algn="l" indent="0" marL="0">
              <a:lnSpc>
                <a:spcPct val="130000"/>
              </a:lnSpc>
              <a:buNone/>
            </a:pPr>
            <a:r>
              <a:rPr lang="en-US" sz="1300" dirty="0">
                <a:solidFill>
                  <a:srgbClr val="FFFFFF"/>
                </a:solidFill>
                <a:latin typeface="Calibri" pitchFamily="34" charset="0"/>
                <a:ea typeface="Calibri" pitchFamily="34" charset="-122"/>
                <a:cs typeface="Calibri" pitchFamily="34" charset="-120"/>
              </a:rPr>
              <a:t>Now imagine you could explore every path in the maze simultaneously. A quantum computer uses qubits that can be 0, 1, or both at the same time. Instead of walking the maze, you flood it with possibilities — finding solutions in ways that feel almost magical.</a:t>
            </a:r>
            <a:endParaRPr lang="en-US" sz="1300" dirty="0"/>
          </a:p>
        </p:txBody>
      </p:sp>
      <p:sp>
        <p:nvSpPr>
          <p:cNvPr id="14" name="Text 10"/>
          <p:cNvSpPr/>
          <p:nvPr/>
        </p:nvSpPr>
        <p:spPr>
          <a:xfrm>
            <a:off x="457200" y="4709160"/>
            <a:ext cx="8229600" cy="320040"/>
          </a:xfrm>
          <a:prstGeom prst="rect">
            <a:avLst/>
          </a:prstGeom>
          <a:noFill/>
          <a:ln/>
        </p:spPr>
        <p:txBody>
          <a:bodyPr wrap="square" lIns="0" tIns="0" rIns="0" bIns="0" rtlCol="0" anchor="ctr"/>
          <a:lstStyle/>
          <a:p>
            <a:pPr algn="ctr" indent="0" marL="0">
              <a:buNone/>
            </a:pPr>
            <a:r>
              <a:rPr lang="en-US" sz="1100" i="1" dirty="0">
                <a:solidFill>
                  <a:srgbClr val="A09CB0"/>
                </a:solidFill>
                <a:latin typeface="Calibri" pitchFamily="34" charset="0"/>
                <a:ea typeface="Calibri" pitchFamily="34" charset="-122"/>
                <a:cs typeface="Calibri" pitchFamily="34" charset="-120"/>
              </a:rPr>
              <a:t>Think of it this way: classical computers walk the maze. Quantum computers see the whole maze at once.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03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57200" y="274320"/>
            <a:ext cx="8229600" cy="731520"/>
          </a:xfrm>
          <a:prstGeom prst="rect">
            <a:avLst/>
          </a:prstGeom>
          <a:noFill/>
          <a:ln/>
        </p:spPr>
        <p:txBody>
          <a:bodyPr wrap="square" lIns="0" tIns="0" rIns="0" bIns="0" rtlCol="0" anchor="ctr"/>
          <a:lstStyle/>
          <a:p>
            <a:pPr algn="ctr" indent="0" marL="0">
              <a:buNone/>
            </a:pPr>
            <a:r>
              <a:rPr lang="en-US" sz="3600" b="1" dirty="0">
                <a:solidFill>
                  <a:srgbClr val="FFFFFF"/>
                </a:solidFill>
                <a:latin typeface="Trebuchet MS" pitchFamily="34" charset="0"/>
                <a:ea typeface="Trebuchet MS" pitchFamily="34" charset="-122"/>
                <a:cs typeface="Trebuchet MS" pitchFamily="34" charset="-120"/>
              </a:rPr>
              <a:t>Bits vs. Qubits</a:t>
            </a:r>
            <a:endParaRPr lang="en-US" sz="3600" dirty="0"/>
          </a:p>
        </p:txBody>
      </p:sp>
      <p:sp>
        <p:nvSpPr>
          <p:cNvPr id="4" name="Text 1"/>
          <p:cNvSpPr/>
          <p:nvPr/>
        </p:nvSpPr>
        <p:spPr>
          <a:xfrm>
            <a:off x="457200" y="960120"/>
            <a:ext cx="8229600" cy="320040"/>
          </a:xfrm>
          <a:prstGeom prst="rect">
            <a:avLst/>
          </a:prstGeom>
          <a:noFill/>
          <a:ln/>
        </p:spPr>
        <p:txBody>
          <a:bodyPr wrap="square" lIns="0" tIns="0" rIns="0" bIns="0" rtlCol="0" anchor="ctr"/>
          <a:lstStyle/>
          <a:p>
            <a:pPr algn="ctr" indent="0" marL="0">
              <a:buNone/>
            </a:pPr>
            <a:r>
              <a:rPr lang="en-US" sz="1400" i="1" dirty="0">
                <a:solidFill>
                  <a:srgbClr val="00D4AA"/>
                </a:solidFill>
                <a:latin typeface="Calibri" pitchFamily="34" charset="0"/>
                <a:ea typeface="Calibri" pitchFamily="34" charset="-122"/>
                <a:cs typeface="Calibri" pitchFamily="34" charset="-120"/>
              </a:rPr>
              <a:t>The building blocks of the maze</a:t>
            </a:r>
            <a:endParaRPr lang="en-US" sz="1400" dirty="0"/>
          </a:p>
        </p:txBody>
      </p:sp>
      <p:sp>
        <p:nvSpPr>
          <p:cNvPr id="5" name="Shape 2"/>
          <p:cNvSpPr/>
          <p:nvPr/>
        </p:nvSpPr>
        <p:spPr>
          <a:xfrm>
            <a:off x="1371600" y="1737360"/>
            <a:ext cx="1097280" cy="1097280"/>
          </a:xfrm>
          <a:prstGeom prst="ellipse">
            <a:avLst/>
          </a:prstGeom>
          <a:solidFill>
            <a:srgbClr val="3D2B6B"/>
          </a:solidFill>
          <a:ln w="38100">
            <a:solidFill>
              <a:srgbClr val="6C3CE1"/>
            </a:solidFill>
            <a:prstDash val="solid"/>
          </a:ln>
        </p:spPr>
      </p:sp>
      <p:sp>
        <p:nvSpPr>
          <p:cNvPr id="6" name="Text 3"/>
          <p:cNvSpPr/>
          <p:nvPr/>
        </p:nvSpPr>
        <p:spPr>
          <a:xfrm>
            <a:off x="1371600" y="1737360"/>
            <a:ext cx="1097280" cy="1097280"/>
          </a:xfrm>
          <a:prstGeom prst="rect">
            <a:avLst/>
          </a:prstGeom>
          <a:noFill/>
          <a:ln/>
        </p:spPr>
        <p:txBody>
          <a:bodyPr wrap="square" lIns="0" tIns="0" rIns="0" bIns="0" rtlCol="0" anchor="ctr"/>
          <a:lstStyle/>
          <a:p>
            <a:pPr algn="ctr" indent="0" marL="0">
              <a:buNone/>
            </a:pPr>
            <a:r>
              <a:rPr lang="en-US" sz="3600" b="1" dirty="0">
                <a:solidFill>
                  <a:srgbClr val="FFFFFF"/>
                </a:solidFill>
                <a:latin typeface="Trebuchet MS" pitchFamily="34" charset="0"/>
                <a:ea typeface="Trebuchet MS" pitchFamily="34" charset="-122"/>
                <a:cs typeface="Trebuchet MS" pitchFamily="34" charset="-120"/>
              </a:rPr>
              <a:t>0</a:t>
            </a:r>
            <a:endParaRPr lang="en-US" sz="3600" dirty="0"/>
          </a:p>
        </p:txBody>
      </p:sp>
      <p:sp>
        <p:nvSpPr>
          <p:cNvPr id="7" name="Text 4"/>
          <p:cNvSpPr/>
          <p:nvPr/>
        </p:nvSpPr>
        <p:spPr>
          <a:xfrm>
            <a:off x="2743200" y="2011680"/>
            <a:ext cx="548640" cy="457200"/>
          </a:xfrm>
          <a:prstGeom prst="rect">
            <a:avLst/>
          </a:prstGeom>
          <a:noFill/>
          <a:ln/>
        </p:spPr>
        <p:txBody>
          <a:bodyPr wrap="square" lIns="0" tIns="0" rIns="0" bIns="0" rtlCol="0" anchor="ctr"/>
          <a:lstStyle/>
          <a:p>
            <a:pPr algn="ctr" indent="0" marL="0">
              <a:buNone/>
            </a:pPr>
            <a:r>
              <a:rPr lang="en-US" sz="1600" dirty="0">
                <a:solidFill>
                  <a:srgbClr val="A09CB0"/>
                </a:solidFill>
                <a:latin typeface="Calibri" pitchFamily="34" charset="0"/>
                <a:ea typeface="Calibri" pitchFamily="34" charset="-122"/>
                <a:cs typeface="Calibri" pitchFamily="34" charset="-120"/>
              </a:rPr>
              <a:t>or</a:t>
            </a:r>
            <a:endParaRPr lang="en-US" sz="1600" dirty="0"/>
          </a:p>
        </p:txBody>
      </p:sp>
      <p:sp>
        <p:nvSpPr>
          <p:cNvPr id="8" name="Shape 5"/>
          <p:cNvSpPr/>
          <p:nvPr/>
        </p:nvSpPr>
        <p:spPr>
          <a:xfrm>
            <a:off x="3566160" y="1737360"/>
            <a:ext cx="1097280" cy="1097280"/>
          </a:xfrm>
          <a:prstGeom prst="ellipse">
            <a:avLst/>
          </a:prstGeom>
          <a:solidFill>
            <a:srgbClr val="3D2B6B"/>
          </a:solidFill>
          <a:ln w="38100">
            <a:solidFill>
              <a:srgbClr val="6C3CE1"/>
            </a:solidFill>
            <a:prstDash val="solid"/>
          </a:ln>
        </p:spPr>
      </p:sp>
      <p:sp>
        <p:nvSpPr>
          <p:cNvPr id="9" name="Text 6"/>
          <p:cNvSpPr/>
          <p:nvPr/>
        </p:nvSpPr>
        <p:spPr>
          <a:xfrm>
            <a:off x="3566160" y="1737360"/>
            <a:ext cx="1097280" cy="1097280"/>
          </a:xfrm>
          <a:prstGeom prst="rect">
            <a:avLst/>
          </a:prstGeom>
          <a:noFill/>
          <a:ln/>
        </p:spPr>
        <p:txBody>
          <a:bodyPr wrap="square" lIns="0" tIns="0" rIns="0" bIns="0" rtlCol="0" anchor="ctr"/>
          <a:lstStyle/>
          <a:p>
            <a:pPr algn="ctr" indent="0" marL="0">
              <a:buNone/>
            </a:pPr>
            <a:r>
              <a:rPr lang="en-US" sz="3600" b="1" dirty="0">
                <a:solidFill>
                  <a:srgbClr val="FFFFFF"/>
                </a:solidFill>
                <a:latin typeface="Trebuchet MS" pitchFamily="34" charset="0"/>
                <a:ea typeface="Trebuchet MS" pitchFamily="34" charset="-122"/>
                <a:cs typeface="Trebuchet MS" pitchFamily="34" charset="-120"/>
              </a:rPr>
              <a:t>1</a:t>
            </a:r>
            <a:endParaRPr lang="en-US" sz="3600" dirty="0"/>
          </a:p>
        </p:txBody>
      </p:sp>
      <p:sp>
        <p:nvSpPr>
          <p:cNvPr id="10" name="Text 7"/>
          <p:cNvSpPr/>
          <p:nvPr/>
        </p:nvSpPr>
        <p:spPr>
          <a:xfrm>
            <a:off x="1097280" y="2971800"/>
            <a:ext cx="3840480" cy="274320"/>
          </a:xfrm>
          <a:prstGeom prst="rect">
            <a:avLst/>
          </a:prstGeom>
          <a:noFill/>
          <a:ln/>
        </p:spPr>
        <p:txBody>
          <a:bodyPr wrap="square" lIns="0" tIns="0" rIns="0" bIns="0" rtlCol="0" anchor="ctr"/>
          <a:lstStyle/>
          <a:p>
            <a:pPr algn="ctr" indent="0" marL="0">
              <a:buNone/>
            </a:pPr>
            <a:r>
              <a:rPr lang="en-US" sz="1100" spc="300" kern="0" dirty="0">
                <a:solidFill>
                  <a:srgbClr val="A09CB0"/>
                </a:solidFill>
                <a:latin typeface="Trebuchet MS" pitchFamily="34" charset="0"/>
                <a:ea typeface="Trebuchet MS" pitchFamily="34" charset="-122"/>
                <a:cs typeface="Trebuchet MS" pitchFamily="34" charset="-120"/>
              </a:rPr>
              <a:t>CLASSICAL BIT</a:t>
            </a:r>
            <a:endParaRPr lang="en-US" sz="1100" dirty="0"/>
          </a:p>
        </p:txBody>
      </p:sp>
      <p:sp>
        <p:nvSpPr>
          <p:cNvPr id="11" name="Text 8"/>
          <p:cNvSpPr/>
          <p:nvPr/>
        </p:nvSpPr>
        <p:spPr>
          <a:xfrm>
            <a:off x="731520" y="3291840"/>
            <a:ext cx="4389120" cy="640080"/>
          </a:xfrm>
          <a:prstGeom prst="rect">
            <a:avLst/>
          </a:prstGeom>
          <a:noFill/>
          <a:ln/>
        </p:spPr>
        <p:txBody>
          <a:bodyPr wrap="square" lIns="0" tIns="0" rIns="0" bIns="0" rtlCol="0" anchor="ctr"/>
          <a:lstStyle/>
          <a:p>
            <a:pPr algn="ctr" indent="0" marL="0">
              <a:lnSpc>
                <a:spcPct val="120000"/>
              </a:lnSpc>
              <a:buNone/>
            </a:pPr>
            <a:r>
              <a:rPr lang="en-US" sz="1200" dirty="0">
                <a:solidFill>
                  <a:srgbClr val="FFFFFF"/>
                </a:solidFill>
                <a:latin typeface="Calibri" pitchFamily="34" charset="0"/>
                <a:ea typeface="Calibri" pitchFamily="34" charset="-122"/>
                <a:cs typeface="Calibri" pitchFamily="34" charset="-120"/>
              </a:rPr>
              <a:t>A bit is a fork in the maze — you must choose left or right. There is no in-between.</a:t>
            </a:r>
            <a:endParaRPr lang="en-US" sz="1200" dirty="0"/>
          </a:p>
        </p:txBody>
      </p:sp>
      <p:sp>
        <p:nvSpPr>
          <p:cNvPr id="12" name="Shape 9"/>
          <p:cNvSpPr/>
          <p:nvPr/>
        </p:nvSpPr>
        <p:spPr>
          <a:xfrm>
            <a:off x="6126480" y="1737360"/>
            <a:ext cx="1463040" cy="1463040"/>
          </a:xfrm>
          <a:prstGeom prst="ellipse">
            <a:avLst/>
          </a:prstGeom>
          <a:solidFill>
            <a:srgbClr val="00D4AA">
              <a:alpha val="80000"/>
            </a:srgbClr>
          </a:solidFill>
          <a:ln w="38100">
            <a:solidFill>
              <a:srgbClr val="00D4AA"/>
            </a:solidFill>
            <a:prstDash val="solid"/>
          </a:ln>
        </p:spPr>
      </p:sp>
      <p:sp>
        <p:nvSpPr>
          <p:cNvPr id="13" name="Text 10"/>
          <p:cNvSpPr/>
          <p:nvPr/>
        </p:nvSpPr>
        <p:spPr>
          <a:xfrm>
            <a:off x="6126480" y="1737360"/>
            <a:ext cx="1463040" cy="1463040"/>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0</a:t>
            </a:r>
            <a:pPr algn="ctr" indent="0" marL="0">
              <a:buNone/>
            </a:pPr>
            <a:r>
              <a:rPr lang="en-US" sz="1600" dirty="0">
                <a:solidFill>
                  <a:srgbClr val="A09CB0"/>
                </a:solidFill>
                <a:latin typeface="Trebuchet MS" pitchFamily="34" charset="0"/>
                <a:ea typeface="Trebuchet MS" pitchFamily="34" charset="-122"/>
                <a:cs typeface="Trebuchet MS" pitchFamily="34" charset="-120"/>
              </a:rPr>
              <a:t> + </a:t>
            </a:r>
            <a:pPr algn="ctr" indent="0" marL="0">
              <a:buNone/>
            </a:pPr>
            <a:r>
              <a:rPr lang="en-US" sz="2200" b="1" dirty="0">
                <a:solidFill>
                  <a:srgbClr val="FFFFFF"/>
                </a:solidFill>
                <a:latin typeface="Trebuchet MS" pitchFamily="34" charset="0"/>
                <a:ea typeface="Trebuchet MS" pitchFamily="34" charset="-122"/>
                <a:cs typeface="Trebuchet MS" pitchFamily="34" charset="-120"/>
              </a:rPr>
              <a:t>1</a:t>
            </a:r>
            <a:endParaRPr lang="en-US" sz="2200" dirty="0"/>
          </a:p>
        </p:txBody>
      </p:sp>
      <p:sp>
        <p:nvSpPr>
          <p:cNvPr id="14" name="Text 11"/>
          <p:cNvSpPr/>
          <p:nvPr/>
        </p:nvSpPr>
        <p:spPr>
          <a:xfrm>
            <a:off x="5669280" y="3337560"/>
            <a:ext cx="2377440" cy="274320"/>
          </a:xfrm>
          <a:prstGeom prst="rect">
            <a:avLst/>
          </a:prstGeom>
          <a:noFill/>
          <a:ln/>
        </p:spPr>
        <p:txBody>
          <a:bodyPr wrap="square" lIns="0" tIns="0" rIns="0" bIns="0" rtlCol="0" anchor="ctr"/>
          <a:lstStyle/>
          <a:p>
            <a:pPr algn="ctr" indent="0" marL="0">
              <a:buNone/>
            </a:pPr>
            <a:r>
              <a:rPr lang="en-US" sz="1100" spc="300" kern="0" dirty="0">
                <a:solidFill>
                  <a:srgbClr val="A09CB0"/>
                </a:solidFill>
                <a:latin typeface="Trebuchet MS" pitchFamily="34" charset="0"/>
                <a:ea typeface="Trebuchet MS" pitchFamily="34" charset="-122"/>
                <a:cs typeface="Trebuchet MS" pitchFamily="34" charset="-120"/>
              </a:rPr>
              <a:t>QUBIT</a:t>
            </a:r>
            <a:endParaRPr lang="en-US" sz="1100" dirty="0"/>
          </a:p>
        </p:txBody>
      </p:sp>
      <p:sp>
        <p:nvSpPr>
          <p:cNvPr id="15" name="Text 12"/>
          <p:cNvSpPr/>
          <p:nvPr/>
        </p:nvSpPr>
        <p:spPr>
          <a:xfrm>
            <a:off x="5212080" y="3657600"/>
            <a:ext cx="3291840" cy="685800"/>
          </a:xfrm>
          <a:prstGeom prst="rect">
            <a:avLst/>
          </a:prstGeom>
          <a:noFill/>
          <a:ln/>
        </p:spPr>
        <p:txBody>
          <a:bodyPr wrap="square" lIns="0" tIns="0" rIns="0" bIns="0" rtlCol="0" anchor="ctr"/>
          <a:lstStyle/>
          <a:p>
            <a:pPr algn="ctr" indent="0" marL="0">
              <a:lnSpc>
                <a:spcPct val="120000"/>
              </a:lnSpc>
              <a:buNone/>
            </a:pPr>
            <a:r>
              <a:rPr lang="en-US" sz="1200" dirty="0">
                <a:solidFill>
                  <a:srgbClr val="FFFFFF"/>
                </a:solidFill>
                <a:latin typeface="Calibri" pitchFamily="34" charset="0"/>
                <a:ea typeface="Calibri" pitchFamily="34" charset="-122"/>
                <a:cs typeface="Calibri" pitchFamily="34" charset="-120"/>
              </a:rPr>
              <a:t>A qubit is like being at both forks at once — exploring left and right simultaneously until you observe which way you went.</a:t>
            </a:r>
            <a:endParaRPr lang="en-US" sz="1200" dirty="0"/>
          </a:p>
        </p:txBody>
      </p:sp>
      <p:sp>
        <p:nvSpPr>
          <p:cNvPr id="16" name="Shape 13"/>
          <p:cNvSpPr/>
          <p:nvPr/>
        </p:nvSpPr>
        <p:spPr>
          <a:xfrm>
            <a:off x="0" y="4572000"/>
            <a:ext cx="9144000" cy="571500"/>
          </a:xfrm>
          <a:prstGeom prst="rect">
            <a:avLst/>
          </a:prstGeom>
          <a:solidFill>
            <a:srgbClr val="6C3CE1">
              <a:alpha val="50000"/>
            </a:srgbClr>
          </a:solidFill>
          <a:ln/>
        </p:spPr>
      </p:sp>
      <p:sp>
        <p:nvSpPr>
          <p:cNvPr id="17" name="Text 14"/>
          <p:cNvSpPr/>
          <p:nvPr/>
        </p:nvSpPr>
        <p:spPr>
          <a:xfrm>
            <a:off x="457200" y="4572000"/>
            <a:ext cx="8229600" cy="571500"/>
          </a:xfrm>
          <a:prstGeom prst="rect">
            <a:avLst/>
          </a:prstGeom>
          <a:noFill/>
          <a:ln/>
        </p:spPr>
        <p:txBody>
          <a:bodyPr wrap="square" lIns="0" tIns="0" rIns="0" bIns="0"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This dual state is the key that unlocks the quantum maze.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ECF9"/>
        </a:solidFill>
      </p:bgPr>
    </p:bg>
    <p:spTree>
      <p:nvGrpSpPr>
        <p:cNvPr id="1" name=""/>
        <p:cNvGrpSpPr/>
        <p:nvPr/>
      </p:nvGrpSpPr>
      <p:grpSpPr>
        <a:xfrm>
          <a:off x="0" y="0"/>
          <a:ext cx="0" cy="0"/>
          <a:chOff x="0" y="0"/>
          <a:chExt cx="0" cy="0"/>
        </a:xfrm>
      </p:grpSpPr>
      <p:sp>
        <p:nvSpPr>
          <p:cNvPr id="2" name="Text 0"/>
          <p:cNvSpPr/>
          <p:nvPr/>
        </p:nvSpPr>
        <p:spPr>
          <a:xfrm>
            <a:off x="457200" y="274320"/>
            <a:ext cx="6400800" cy="640080"/>
          </a:xfrm>
          <a:prstGeom prst="rect">
            <a:avLst/>
          </a:prstGeom>
          <a:noFill/>
          <a:ln/>
        </p:spPr>
        <p:txBody>
          <a:bodyPr wrap="square" lIns="0" tIns="0" rIns="0" bIns="0" rtlCol="0" anchor="ctr"/>
          <a:lstStyle/>
          <a:p>
            <a:pPr indent="0" marL="0">
              <a:buNone/>
            </a:pPr>
            <a:r>
              <a:rPr lang="en-US" sz="3200" b="1" dirty="0">
                <a:solidFill>
                  <a:srgbClr val="1A1035"/>
                </a:solidFill>
                <a:latin typeface="Trebuchet MS" pitchFamily="34" charset="0"/>
                <a:ea typeface="Trebuchet MS" pitchFamily="34" charset="-122"/>
                <a:cs typeface="Trebuchet MS" pitchFamily="34" charset="-120"/>
              </a:rPr>
              <a:t>How Do Qubits Work?</a:t>
            </a:r>
            <a:endParaRPr lang="en-US" sz="3200" dirty="0"/>
          </a:p>
        </p:txBody>
      </p:sp>
      <p:sp>
        <p:nvSpPr>
          <p:cNvPr id="3" name="Text 1"/>
          <p:cNvSpPr/>
          <p:nvPr/>
        </p:nvSpPr>
        <p:spPr>
          <a:xfrm>
            <a:off x="457200" y="868680"/>
            <a:ext cx="3657600" cy="365760"/>
          </a:xfrm>
          <a:prstGeom prst="rect">
            <a:avLst/>
          </a:prstGeom>
          <a:noFill/>
          <a:ln/>
        </p:spPr>
        <p:txBody>
          <a:bodyPr wrap="square" lIns="0" tIns="0" rIns="0" bIns="0" rtlCol="0" anchor="ctr"/>
          <a:lstStyle/>
          <a:p>
            <a:pPr indent="0" marL="0">
              <a:buNone/>
            </a:pPr>
            <a:r>
              <a:rPr lang="en-US" sz="1400" i="1" dirty="0">
                <a:solidFill>
                  <a:srgbClr val="6C3CE1"/>
                </a:solidFill>
                <a:latin typeface="Calibri" pitchFamily="34" charset="0"/>
                <a:ea typeface="Calibri" pitchFamily="34" charset="-122"/>
                <a:cs typeface="Calibri" pitchFamily="34" charset="-120"/>
              </a:rPr>
              <a:t>Peeking behind the maze walls</a:t>
            </a:r>
            <a:endParaRPr lang="en-US" sz="1400" dirty="0"/>
          </a:p>
        </p:txBody>
      </p:sp>
      <p:sp>
        <p:nvSpPr>
          <p:cNvPr id="4" name="Shape 2"/>
          <p:cNvSpPr/>
          <p:nvPr/>
        </p:nvSpPr>
        <p:spPr>
          <a:xfrm>
            <a:off x="457200" y="1417320"/>
            <a:ext cx="5029200" cy="3200400"/>
          </a:xfrm>
          <a:prstGeom prst="rect">
            <a:avLst/>
          </a:prstGeom>
          <a:solidFill>
            <a:srgbClr val="FFFFFF"/>
          </a:solidFill>
          <a:ln/>
          <a:effectLst>
            <a:outerShdw sx="100000" sy="100000" kx="0" ky="0" algn="bl" rotWithShape="0" blurRad="101600" dist="38100" dir="8100000">
              <a:srgbClr val="000000">
                <a:alpha val="25000"/>
              </a:srgbClr>
            </a:outerShdw>
          </a:effectLst>
        </p:spPr>
      </p:sp>
      <p:pic>
        <p:nvPicPr>
          <p:cNvPr id="5" name="Image 0" descr="preencoded.png">    </p:cNvPr>
          <p:cNvPicPr>
            <a:picLocks noChangeAspect="1"/>
          </p:cNvPicPr>
          <p:nvPr/>
        </p:nvPicPr>
        <p:blipFill>
          <a:blip r:embed="rId1"/>
          <a:stretch>
            <a:fillRect/>
          </a:stretch>
        </p:blipFill>
        <p:spPr>
          <a:xfrm>
            <a:off x="731520" y="1600200"/>
            <a:ext cx="411480" cy="411480"/>
          </a:xfrm>
          <a:prstGeom prst="rect">
            <a:avLst/>
          </a:prstGeom>
        </p:spPr>
      </p:pic>
      <p:sp>
        <p:nvSpPr>
          <p:cNvPr id="6" name="Text 3"/>
          <p:cNvSpPr/>
          <p:nvPr/>
        </p:nvSpPr>
        <p:spPr>
          <a:xfrm>
            <a:off x="1280160" y="1600200"/>
            <a:ext cx="3840480" cy="411480"/>
          </a:xfrm>
          <a:prstGeom prst="rect">
            <a:avLst/>
          </a:prstGeom>
          <a:noFill/>
          <a:ln/>
        </p:spPr>
        <p:txBody>
          <a:bodyPr wrap="square" lIns="0" tIns="0" rIns="0" bIns="0" rtlCol="0" anchor="ctr"/>
          <a:lstStyle/>
          <a:p>
            <a:pPr indent="0" marL="0">
              <a:buNone/>
            </a:pPr>
            <a:r>
              <a:rPr lang="en-US" sz="1700" b="1" dirty="0">
                <a:solidFill>
                  <a:srgbClr val="1A1035"/>
                </a:solidFill>
                <a:latin typeface="Trebuchet MS" pitchFamily="34" charset="0"/>
                <a:ea typeface="Trebuchet MS" pitchFamily="34" charset="-122"/>
                <a:cs typeface="Trebuchet MS" pitchFamily="34" charset="-120"/>
              </a:rPr>
              <a:t>The Spinning Coin Analogy</a:t>
            </a:r>
            <a:endParaRPr lang="en-US" sz="1700" dirty="0"/>
          </a:p>
        </p:txBody>
      </p:sp>
      <p:sp>
        <p:nvSpPr>
          <p:cNvPr id="7" name="Text 4"/>
          <p:cNvSpPr/>
          <p:nvPr/>
        </p:nvSpPr>
        <p:spPr>
          <a:xfrm>
            <a:off x="731520" y="2148840"/>
            <a:ext cx="4480560" cy="2286000"/>
          </a:xfrm>
          <a:prstGeom prst="rect">
            <a:avLst/>
          </a:prstGeom>
          <a:noFill/>
          <a:ln/>
        </p:spPr>
        <p:txBody>
          <a:bodyPr wrap="square" lIns="0" tIns="0" rIns="0" bIns="0" rtlCol="0" anchor="t"/>
          <a:lstStyle/>
          <a:p>
            <a:pPr algn="l" indent="0" marL="0">
              <a:lnSpc>
                <a:spcPct val="135000"/>
              </a:lnSpc>
              <a:buNone/>
            </a:pPr>
            <a:r>
              <a:rPr lang="en-US" sz="1300" dirty="0">
                <a:solidFill>
                  <a:srgbClr val="1A1035"/>
                </a:solidFill>
                <a:latin typeface="Calibri" pitchFamily="34" charset="0"/>
                <a:ea typeface="Calibri" pitchFamily="34" charset="-122"/>
                <a:cs typeface="Calibri" pitchFamily="34" charset="-120"/>
              </a:rPr>
              <a:t>Flip a coin and catch it — it's either heads or tails. That's a bit. Now spin the coin on a table. While it's spinning, it's neither heads nor tails — it's both possibilities at once. That spinning coin is a qubit in superposition.</a:t>
            </a:r>
            <a:endParaRPr lang="en-US" sz="1300" dirty="0"/>
          </a:p>
          <a:p>
            <a:pPr algn="l" indent="0" marL="0">
              <a:lnSpc>
                <a:spcPct val="135000"/>
              </a:lnSpc>
              <a:buNone/>
            </a:pPr>
            <a:endParaRPr lang="en-US" sz="1300" dirty="0"/>
          </a:p>
          <a:p>
            <a:pPr algn="l" indent="0" marL="0">
              <a:lnSpc>
                <a:spcPct val="135000"/>
              </a:lnSpc>
              <a:buNone/>
            </a:pPr>
            <a:r>
              <a:rPr lang="en-US" sz="1300" dirty="0">
                <a:solidFill>
                  <a:srgbClr val="1A1035"/>
                </a:solidFill>
                <a:latin typeface="Calibri" pitchFamily="34" charset="0"/>
                <a:ea typeface="Calibri" pitchFamily="34" charset="-122"/>
                <a:cs typeface="Calibri" pitchFamily="34" charset="-120"/>
              </a:rPr>
              <a:t>In our maze, this means a qubit doesn't just choose a path — it keeps all paths open until the very moment we check. The longer we can keep that coin spinning, the more of the maze we can explore.</a:t>
            </a:r>
            <a:endParaRPr lang="en-US" sz="1300" dirty="0"/>
          </a:p>
        </p:txBody>
      </p:sp>
      <p:sp>
        <p:nvSpPr>
          <p:cNvPr id="8" name="Shape 5"/>
          <p:cNvSpPr/>
          <p:nvPr/>
        </p:nvSpPr>
        <p:spPr>
          <a:xfrm>
            <a:off x="5760720" y="1417320"/>
            <a:ext cx="2926080" cy="1828800"/>
          </a:xfrm>
          <a:prstGeom prst="rect">
            <a:avLst/>
          </a:prstGeom>
          <a:solidFill>
            <a:srgbClr val="251A4A"/>
          </a:solidFill>
          <a:ln/>
          <a:effectLst>
            <a:outerShdw sx="100000" sy="100000" kx="0" ky="0" algn="bl" rotWithShape="0" blurRad="101600" dist="38100" dir="8100000">
              <a:srgbClr val="000000">
                <a:alpha val="25000"/>
              </a:srgbClr>
            </a:outerShdw>
          </a:effectLst>
        </p:spPr>
      </p:sp>
      <p:pic>
        <p:nvPicPr>
          <p:cNvPr id="9" name="Image 1" descr="preencoded.png">    </p:cNvPr>
          <p:cNvPicPr>
            <a:picLocks noChangeAspect="1"/>
          </p:cNvPicPr>
          <p:nvPr/>
        </p:nvPicPr>
        <p:blipFill>
          <a:blip r:embed="rId2"/>
          <a:stretch>
            <a:fillRect/>
          </a:stretch>
        </p:blipFill>
        <p:spPr>
          <a:xfrm>
            <a:off x="6903720" y="1600200"/>
            <a:ext cx="457200" cy="457200"/>
          </a:xfrm>
          <a:prstGeom prst="rect">
            <a:avLst/>
          </a:prstGeom>
        </p:spPr>
      </p:pic>
      <p:sp>
        <p:nvSpPr>
          <p:cNvPr id="10" name="Text 6"/>
          <p:cNvSpPr/>
          <p:nvPr/>
        </p:nvSpPr>
        <p:spPr>
          <a:xfrm>
            <a:off x="6035040" y="2148840"/>
            <a:ext cx="2377440" cy="274320"/>
          </a:xfrm>
          <a:prstGeom prst="rect">
            <a:avLst/>
          </a:prstGeom>
          <a:noFill/>
          <a:ln/>
        </p:spPr>
        <p:txBody>
          <a:bodyPr wrap="square" lIns="0" tIns="0" rIns="0" bIns="0" rtlCol="0" anchor="ctr"/>
          <a:lstStyle/>
          <a:p>
            <a:pPr algn="ctr" indent="0" marL="0">
              <a:buNone/>
            </a:pPr>
            <a:r>
              <a:rPr lang="en-US" sz="1000" spc="300" kern="0" dirty="0">
                <a:solidFill>
                  <a:srgbClr val="00D4AA"/>
                </a:solidFill>
                <a:latin typeface="Trebuchet MS" pitchFamily="34" charset="0"/>
                <a:ea typeface="Trebuchet MS" pitchFamily="34" charset="-122"/>
                <a:cs typeface="Trebuchet MS" pitchFamily="34" charset="-120"/>
              </a:rPr>
              <a:t>KEY CONCEPT</a:t>
            </a:r>
            <a:endParaRPr lang="en-US" sz="1000" dirty="0"/>
          </a:p>
        </p:txBody>
      </p:sp>
      <p:sp>
        <p:nvSpPr>
          <p:cNvPr id="11" name="Text 7"/>
          <p:cNvSpPr/>
          <p:nvPr/>
        </p:nvSpPr>
        <p:spPr>
          <a:xfrm>
            <a:off x="6035040" y="2468880"/>
            <a:ext cx="2377440" cy="640080"/>
          </a:xfrm>
          <a:prstGeom prst="rect">
            <a:avLst/>
          </a:prstGeom>
          <a:noFill/>
          <a:ln/>
        </p:spPr>
        <p:txBody>
          <a:bodyPr wrap="square" lIns="0" tIns="0" rIns="0" bIns="0" rtlCol="0" anchor="t"/>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Qubits use probability, not certainty — and that's their power.</a:t>
            </a:r>
            <a:endParaRPr lang="en-US" sz="1300" dirty="0"/>
          </a:p>
        </p:txBody>
      </p:sp>
      <p:sp>
        <p:nvSpPr>
          <p:cNvPr id="12" name="Shape 8"/>
          <p:cNvSpPr/>
          <p:nvPr/>
        </p:nvSpPr>
        <p:spPr>
          <a:xfrm>
            <a:off x="5760720" y="3520440"/>
            <a:ext cx="2926080" cy="1051560"/>
          </a:xfrm>
          <a:prstGeom prst="roundRect">
            <a:avLst>
              <a:gd name="adj" fmla="val 13043"/>
            </a:avLst>
          </a:prstGeom>
          <a:solidFill>
            <a:srgbClr val="FF6B6B"/>
          </a:solidFill>
          <a:ln/>
          <a:effectLst>
            <a:outerShdw sx="100000" sy="100000" kx="0" ky="0" algn="bl" rotWithShape="0" blurRad="101600" dist="38100" dir="8100000">
              <a:srgbClr val="000000">
                <a:alpha val="25000"/>
              </a:srgbClr>
            </a:outerShdw>
          </a:effectLst>
        </p:spPr>
      </p:sp>
      <p:pic>
        <p:nvPicPr>
          <p:cNvPr id="13" name="Image 2" descr="preencoded.png">    </p:cNvPr>
          <p:cNvPicPr>
            <a:picLocks noChangeAspect="1"/>
          </p:cNvPicPr>
          <p:nvPr/>
        </p:nvPicPr>
        <p:blipFill>
          <a:blip r:embed="rId3"/>
          <a:stretch>
            <a:fillRect/>
          </a:stretch>
        </p:blipFill>
        <p:spPr>
          <a:xfrm>
            <a:off x="6400800" y="3657600"/>
            <a:ext cx="365760" cy="365760"/>
          </a:xfrm>
          <a:prstGeom prst="rect">
            <a:avLst/>
          </a:prstGeom>
        </p:spPr>
      </p:pic>
      <p:sp>
        <p:nvSpPr>
          <p:cNvPr id="14" name="Text 9"/>
          <p:cNvSpPr/>
          <p:nvPr/>
        </p:nvSpPr>
        <p:spPr>
          <a:xfrm>
            <a:off x="6812280" y="3657600"/>
            <a:ext cx="1554480" cy="36576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QUIZ TIME!</a:t>
            </a:r>
            <a:endParaRPr lang="en-US" sz="1600" dirty="0"/>
          </a:p>
        </p:txBody>
      </p:sp>
      <p:sp>
        <p:nvSpPr>
          <p:cNvPr id="15" name="Text 10"/>
          <p:cNvSpPr/>
          <p:nvPr/>
        </p:nvSpPr>
        <p:spPr>
          <a:xfrm>
            <a:off x="6035040" y="4069080"/>
            <a:ext cx="2377440" cy="32004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Test what you've learned so far!</a:t>
            </a:r>
            <a:endParaRPr lang="en-US" sz="1100" dirty="0"/>
          </a:p>
        </p:txBody>
      </p:sp>
      <p:sp>
        <p:nvSpPr>
          <p:cNvPr id="16" name="Text 11">
            <a:hlinkClick r:id="rId4" tooltip="Take the Quiz!"/>
          </p:cNvPr>
          <p:cNvSpPr/>
          <p:nvPr/>
        </p:nvSpPr>
        <p:spPr>
          <a:xfrm>
            <a:off x="5760720" y="3520440"/>
            <a:ext cx="2926080" cy="1051560"/>
          </a:xfrm>
          <a:prstGeom prst="rect">
            <a:avLst/>
          </a:prstGeom>
          <a:noFill/>
          <a:ln/>
        </p:spPr>
        <p:txBody>
          <a:bodyPr wrap="square" rtlCol="0" anchor="ctr"/>
          <a:lstStyle/>
          <a:p>
            <a:pPr indent="0" marL="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03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57200" y="274320"/>
            <a:ext cx="8229600" cy="731520"/>
          </a:xfrm>
          <a:prstGeom prst="rect">
            <a:avLst/>
          </a:prstGeom>
          <a:noFill/>
          <a:ln/>
        </p:spPr>
        <p:txBody>
          <a:bodyPr wrap="square" lIns="0" tIns="0" rIns="0" bIns="0" rtlCol="0" anchor="ctr"/>
          <a:lstStyle/>
          <a:p>
            <a:pPr algn="ctr" indent="0" marL="0">
              <a:buNone/>
            </a:pPr>
            <a:r>
              <a:rPr lang="en-US" sz="4000" b="1" spc="500" kern="0" dirty="0">
                <a:solidFill>
                  <a:srgbClr val="00D4AA"/>
                </a:solidFill>
                <a:latin typeface="Trebuchet MS" pitchFamily="34" charset="0"/>
                <a:ea typeface="Trebuchet MS" pitchFamily="34" charset="-122"/>
                <a:cs typeface="Trebuchet MS" pitchFamily="34" charset="-120"/>
              </a:rPr>
              <a:t>SUPERPOSITION</a:t>
            </a:r>
            <a:endParaRPr lang="en-US" sz="4000" dirty="0"/>
          </a:p>
        </p:txBody>
      </p:sp>
      <p:sp>
        <p:nvSpPr>
          <p:cNvPr id="4" name="Text 1"/>
          <p:cNvSpPr/>
          <p:nvPr/>
        </p:nvSpPr>
        <p:spPr>
          <a:xfrm>
            <a:off x="457200" y="960120"/>
            <a:ext cx="8229600" cy="320040"/>
          </a:xfrm>
          <a:prstGeom prst="rect">
            <a:avLst/>
          </a:prstGeom>
          <a:noFill/>
          <a:ln/>
        </p:spPr>
        <p:txBody>
          <a:bodyPr wrap="square" lIns="0" tIns="0" rIns="0" bIns="0" rtlCol="0" anchor="ctr"/>
          <a:lstStyle/>
          <a:p>
            <a:pPr algn="ctr" indent="0" marL="0">
              <a:buNone/>
            </a:pPr>
            <a:r>
              <a:rPr lang="en-US" sz="1500" i="1" dirty="0">
                <a:solidFill>
                  <a:srgbClr val="A09CB0"/>
                </a:solidFill>
                <a:latin typeface="Calibri" pitchFamily="34" charset="0"/>
                <a:ea typeface="Calibri" pitchFamily="34" charset="-122"/>
                <a:cs typeface="Calibri" pitchFamily="34" charset="-120"/>
              </a:rPr>
              <a:t>Being everywhere in the maze at once</a:t>
            </a:r>
            <a:endParaRPr lang="en-US" sz="1500" dirty="0"/>
          </a:p>
        </p:txBody>
      </p:sp>
      <p:sp>
        <p:nvSpPr>
          <p:cNvPr id="5" name="Shape 2"/>
          <p:cNvSpPr/>
          <p:nvPr/>
        </p:nvSpPr>
        <p:spPr>
          <a:xfrm>
            <a:off x="685800" y="1554480"/>
            <a:ext cx="2468880" cy="2926080"/>
          </a:xfrm>
          <a:prstGeom prst="rect">
            <a:avLst/>
          </a:prstGeom>
          <a:solidFill>
            <a:srgbClr val="251A4A"/>
          </a:solidFill>
          <a:ln/>
          <a:effectLst>
            <a:outerShdw sx="100000" sy="100000" kx="0" ky="0" algn="bl" rotWithShape="0" blurRad="101600" dist="38100" dir="8100000">
              <a:srgbClr val="000000">
                <a:alpha val="25000"/>
              </a:srgbClr>
            </a:outerShdw>
          </a:effectLst>
        </p:spPr>
      </p:sp>
      <p:sp>
        <p:nvSpPr>
          <p:cNvPr id="6" name="Shape 3"/>
          <p:cNvSpPr/>
          <p:nvPr/>
        </p:nvSpPr>
        <p:spPr>
          <a:xfrm>
            <a:off x="685800" y="1554480"/>
            <a:ext cx="2468880" cy="54864"/>
          </a:xfrm>
          <a:prstGeom prst="rect">
            <a:avLst/>
          </a:prstGeom>
          <a:solidFill>
            <a:srgbClr val="6C3CE1"/>
          </a:solidFill>
          <a:ln/>
        </p:spPr>
      </p:sp>
      <p:sp>
        <p:nvSpPr>
          <p:cNvPr id="7" name="Shape 4"/>
          <p:cNvSpPr/>
          <p:nvPr/>
        </p:nvSpPr>
        <p:spPr>
          <a:xfrm>
            <a:off x="3451860" y="1554480"/>
            <a:ext cx="2468880" cy="2926080"/>
          </a:xfrm>
          <a:prstGeom prst="rect">
            <a:avLst/>
          </a:prstGeom>
          <a:solidFill>
            <a:srgbClr val="251A4A"/>
          </a:solidFill>
          <a:ln/>
          <a:effectLst>
            <a:outerShdw sx="100000" sy="100000" kx="0" ky="0" algn="bl" rotWithShape="0" blurRad="101600" dist="38100" dir="8100000">
              <a:srgbClr val="000000">
                <a:alpha val="25000"/>
              </a:srgbClr>
            </a:outerShdw>
          </a:effectLst>
        </p:spPr>
      </p:sp>
      <p:sp>
        <p:nvSpPr>
          <p:cNvPr id="8" name="Shape 5"/>
          <p:cNvSpPr/>
          <p:nvPr/>
        </p:nvSpPr>
        <p:spPr>
          <a:xfrm>
            <a:off x="3451860" y="1554480"/>
            <a:ext cx="2468880" cy="54864"/>
          </a:xfrm>
          <a:prstGeom prst="rect">
            <a:avLst/>
          </a:prstGeom>
          <a:solidFill>
            <a:srgbClr val="00D4AA"/>
          </a:solidFill>
          <a:ln/>
        </p:spPr>
      </p:sp>
      <p:sp>
        <p:nvSpPr>
          <p:cNvPr id="9" name="Shape 6"/>
          <p:cNvSpPr/>
          <p:nvPr/>
        </p:nvSpPr>
        <p:spPr>
          <a:xfrm>
            <a:off x="6217920" y="1554480"/>
            <a:ext cx="2468880" cy="2926080"/>
          </a:xfrm>
          <a:prstGeom prst="rect">
            <a:avLst/>
          </a:prstGeom>
          <a:solidFill>
            <a:srgbClr val="251A4A"/>
          </a:solidFill>
          <a:ln/>
          <a:effectLst>
            <a:outerShdw sx="100000" sy="100000" kx="0" ky="0" algn="bl" rotWithShape="0" blurRad="101600" dist="38100" dir="8100000">
              <a:srgbClr val="000000">
                <a:alpha val="25000"/>
              </a:srgbClr>
            </a:outerShdw>
          </a:effectLst>
        </p:spPr>
      </p:sp>
      <p:sp>
        <p:nvSpPr>
          <p:cNvPr id="10" name="Shape 7"/>
          <p:cNvSpPr/>
          <p:nvPr/>
        </p:nvSpPr>
        <p:spPr>
          <a:xfrm>
            <a:off x="6217920" y="1554480"/>
            <a:ext cx="2468880" cy="54864"/>
          </a:xfrm>
          <a:prstGeom prst="rect">
            <a:avLst/>
          </a:prstGeom>
          <a:solidFill>
            <a:srgbClr val="FFD700"/>
          </a:solidFill>
          <a:ln/>
        </p:spPr>
      </p:sp>
      <p:sp>
        <p:nvSpPr>
          <p:cNvPr id="11" name="Text 8"/>
          <p:cNvSpPr/>
          <p:nvPr/>
        </p:nvSpPr>
        <p:spPr>
          <a:xfrm>
            <a:off x="868680" y="1783080"/>
            <a:ext cx="548640" cy="457200"/>
          </a:xfrm>
          <a:prstGeom prst="rect">
            <a:avLst/>
          </a:prstGeom>
          <a:noFill/>
          <a:ln/>
        </p:spPr>
        <p:txBody>
          <a:bodyPr wrap="square" lIns="0" tIns="0" rIns="0" bIns="0" rtlCol="0" anchor="ctr"/>
          <a:lstStyle/>
          <a:p>
            <a:pPr indent="0" marL="0">
              <a:buNone/>
            </a:pPr>
            <a:r>
              <a:rPr lang="en-US" sz="2800" b="1" dirty="0">
                <a:solidFill>
                  <a:srgbClr val="6C3CE1"/>
                </a:solidFill>
                <a:latin typeface="Trebuchet MS" pitchFamily="34" charset="0"/>
                <a:ea typeface="Trebuchet MS" pitchFamily="34" charset="-122"/>
                <a:cs typeface="Trebuchet MS" pitchFamily="34" charset="-120"/>
              </a:rPr>
              <a:t>01</a:t>
            </a:r>
            <a:endParaRPr lang="en-US" sz="2800" dirty="0"/>
          </a:p>
        </p:txBody>
      </p:sp>
      <p:sp>
        <p:nvSpPr>
          <p:cNvPr id="12" name="Text 9"/>
          <p:cNvSpPr/>
          <p:nvPr/>
        </p:nvSpPr>
        <p:spPr>
          <a:xfrm>
            <a:off x="868680" y="2240280"/>
            <a:ext cx="2103120" cy="36576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Classical Path</a:t>
            </a:r>
            <a:endParaRPr lang="en-US" sz="1400" dirty="0"/>
          </a:p>
        </p:txBody>
      </p:sp>
      <p:sp>
        <p:nvSpPr>
          <p:cNvPr id="13" name="Text 10"/>
          <p:cNvSpPr/>
          <p:nvPr/>
        </p:nvSpPr>
        <p:spPr>
          <a:xfrm>
            <a:off x="868680" y="2651760"/>
            <a:ext cx="2103120" cy="1691640"/>
          </a:xfrm>
          <a:prstGeom prst="rect">
            <a:avLst/>
          </a:prstGeom>
          <a:noFill/>
          <a:ln/>
        </p:spPr>
        <p:txBody>
          <a:bodyPr wrap="square" lIns="0" tIns="0" rIns="0" bIns="0" rtlCol="0" anchor="t"/>
          <a:lstStyle/>
          <a:p>
            <a:pPr algn="l" indent="0" marL="0">
              <a:lnSpc>
                <a:spcPct val="130000"/>
              </a:lnSpc>
              <a:buNone/>
            </a:pPr>
            <a:r>
              <a:rPr lang="en-US" sz="1150" dirty="0">
                <a:solidFill>
                  <a:srgbClr val="FFFFFF"/>
                </a:solidFill>
                <a:latin typeface="Calibri" pitchFamily="34" charset="0"/>
                <a:ea typeface="Calibri" pitchFamily="34" charset="-122"/>
                <a:cs typeface="Calibri" pitchFamily="34" charset="-120"/>
              </a:rPr>
              <a:t>In a normal maze, you stand at a junction and pick one direction. You commit, walk forward, and hope for the best. If it's a dead end, you go all the way back and try again.</a:t>
            </a:r>
            <a:endParaRPr lang="en-US" sz="1150" dirty="0"/>
          </a:p>
        </p:txBody>
      </p:sp>
      <p:sp>
        <p:nvSpPr>
          <p:cNvPr id="14" name="Text 11"/>
          <p:cNvSpPr/>
          <p:nvPr/>
        </p:nvSpPr>
        <p:spPr>
          <a:xfrm>
            <a:off x="3634740" y="1783080"/>
            <a:ext cx="548640" cy="457200"/>
          </a:xfrm>
          <a:prstGeom prst="rect">
            <a:avLst/>
          </a:prstGeom>
          <a:noFill/>
          <a:ln/>
        </p:spPr>
        <p:txBody>
          <a:bodyPr wrap="square" lIns="0" tIns="0" rIns="0" bIns="0" rtlCol="0" anchor="ctr"/>
          <a:lstStyle/>
          <a:p>
            <a:pPr indent="0" marL="0">
              <a:buNone/>
            </a:pPr>
            <a:r>
              <a:rPr lang="en-US" sz="2800" b="1" dirty="0">
                <a:solidFill>
                  <a:srgbClr val="00D4AA"/>
                </a:solidFill>
                <a:latin typeface="Trebuchet MS" pitchFamily="34" charset="0"/>
                <a:ea typeface="Trebuchet MS" pitchFamily="34" charset="-122"/>
                <a:cs typeface="Trebuchet MS" pitchFamily="34" charset="-120"/>
              </a:rPr>
              <a:t>02</a:t>
            </a:r>
            <a:endParaRPr lang="en-US" sz="2800" dirty="0"/>
          </a:p>
        </p:txBody>
      </p:sp>
      <p:sp>
        <p:nvSpPr>
          <p:cNvPr id="15" name="Text 12"/>
          <p:cNvSpPr/>
          <p:nvPr/>
        </p:nvSpPr>
        <p:spPr>
          <a:xfrm>
            <a:off x="3634740" y="2240280"/>
            <a:ext cx="2103120" cy="36576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Quantum Superposition</a:t>
            </a:r>
            <a:endParaRPr lang="en-US" sz="1400" dirty="0"/>
          </a:p>
        </p:txBody>
      </p:sp>
      <p:sp>
        <p:nvSpPr>
          <p:cNvPr id="16" name="Text 13"/>
          <p:cNvSpPr/>
          <p:nvPr/>
        </p:nvSpPr>
        <p:spPr>
          <a:xfrm>
            <a:off x="3634740" y="2651760"/>
            <a:ext cx="2103120" cy="1691640"/>
          </a:xfrm>
          <a:prstGeom prst="rect">
            <a:avLst/>
          </a:prstGeom>
          <a:noFill/>
          <a:ln/>
        </p:spPr>
        <p:txBody>
          <a:bodyPr wrap="square" lIns="0" tIns="0" rIns="0" bIns="0" rtlCol="0" anchor="t"/>
          <a:lstStyle/>
          <a:p>
            <a:pPr algn="l" indent="0" marL="0">
              <a:lnSpc>
                <a:spcPct val="130000"/>
              </a:lnSpc>
              <a:buNone/>
            </a:pPr>
            <a:r>
              <a:rPr lang="en-US" sz="1150" dirty="0">
                <a:solidFill>
                  <a:srgbClr val="FFFFFF"/>
                </a:solidFill>
                <a:latin typeface="Calibri" pitchFamily="34" charset="0"/>
                <a:ea typeface="Calibri" pitchFamily="34" charset="-122"/>
                <a:cs typeface="Calibri" pitchFamily="34" charset="-120"/>
              </a:rPr>
              <a:t>In the quantum maze, you don't choose — you split into ghost versions of yourself, each walking a different path simultaneously. Every fork multiplies your exploration. Two qubits explore four paths. Three qubits explore eight.</a:t>
            </a:r>
            <a:endParaRPr lang="en-US" sz="1150" dirty="0"/>
          </a:p>
        </p:txBody>
      </p:sp>
      <p:sp>
        <p:nvSpPr>
          <p:cNvPr id="17" name="Text 14"/>
          <p:cNvSpPr/>
          <p:nvPr/>
        </p:nvSpPr>
        <p:spPr>
          <a:xfrm>
            <a:off x="6400800" y="1783080"/>
            <a:ext cx="548640" cy="457200"/>
          </a:xfrm>
          <a:prstGeom prst="rect">
            <a:avLst/>
          </a:prstGeom>
          <a:noFill/>
          <a:ln/>
        </p:spPr>
        <p:txBody>
          <a:bodyPr wrap="square" lIns="0" tIns="0" rIns="0" bIns="0" rtlCol="0" anchor="ctr"/>
          <a:lstStyle/>
          <a:p>
            <a:pPr indent="0" marL="0">
              <a:buNone/>
            </a:pPr>
            <a:r>
              <a:rPr lang="en-US" sz="2800" b="1" dirty="0">
                <a:solidFill>
                  <a:srgbClr val="FFD700"/>
                </a:solidFill>
                <a:latin typeface="Trebuchet MS" pitchFamily="34" charset="0"/>
                <a:ea typeface="Trebuchet MS" pitchFamily="34" charset="-122"/>
                <a:cs typeface="Trebuchet MS" pitchFamily="34" charset="-120"/>
              </a:rPr>
              <a:t>03</a:t>
            </a:r>
            <a:endParaRPr lang="en-US" sz="2800" dirty="0"/>
          </a:p>
        </p:txBody>
      </p:sp>
      <p:sp>
        <p:nvSpPr>
          <p:cNvPr id="18" name="Text 15"/>
          <p:cNvSpPr/>
          <p:nvPr/>
        </p:nvSpPr>
        <p:spPr>
          <a:xfrm>
            <a:off x="6400800" y="2240280"/>
            <a:ext cx="2103120" cy="36576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Measurement</a:t>
            </a:r>
            <a:endParaRPr lang="en-US" sz="1400" dirty="0"/>
          </a:p>
        </p:txBody>
      </p:sp>
      <p:sp>
        <p:nvSpPr>
          <p:cNvPr id="19" name="Text 16"/>
          <p:cNvSpPr/>
          <p:nvPr/>
        </p:nvSpPr>
        <p:spPr>
          <a:xfrm>
            <a:off x="6400800" y="2651760"/>
            <a:ext cx="2103120" cy="1691640"/>
          </a:xfrm>
          <a:prstGeom prst="rect">
            <a:avLst/>
          </a:prstGeom>
          <a:noFill/>
          <a:ln/>
        </p:spPr>
        <p:txBody>
          <a:bodyPr wrap="square" lIns="0" tIns="0" rIns="0" bIns="0" rtlCol="0" anchor="t"/>
          <a:lstStyle/>
          <a:p>
            <a:pPr algn="l" indent="0" marL="0">
              <a:lnSpc>
                <a:spcPct val="130000"/>
              </a:lnSpc>
              <a:buNone/>
            </a:pPr>
            <a:r>
              <a:rPr lang="en-US" sz="1150" dirty="0">
                <a:solidFill>
                  <a:srgbClr val="FFFFFF"/>
                </a:solidFill>
                <a:latin typeface="Calibri" pitchFamily="34" charset="0"/>
                <a:ea typeface="Calibri" pitchFamily="34" charset="-122"/>
                <a:cs typeface="Calibri" pitchFamily="34" charset="-120"/>
              </a:rPr>
              <a:t>The moment someone observes you, all those ghost-selves collapse into one. You snap into a single path — hopefully the right one. Quantum algorithms are designed so the correct path is the most likely one you'll land 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ECF9"/>
        </a:solidFill>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algn="ctr" indent="0" marL="0">
              <a:buNone/>
            </a:pPr>
            <a:r>
              <a:rPr lang="en-US" sz="3600" b="1" spc="300" kern="0" dirty="0">
                <a:solidFill>
                  <a:srgbClr val="6C3CE1"/>
                </a:solidFill>
                <a:latin typeface="Trebuchet MS" pitchFamily="34" charset="0"/>
                <a:ea typeface="Trebuchet MS" pitchFamily="34" charset="-122"/>
                <a:cs typeface="Trebuchet MS" pitchFamily="34" charset="-120"/>
              </a:rPr>
              <a:t>ENTANGLEMENT</a:t>
            </a:r>
            <a:endParaRPr lang="en-US" sz="3600" dirty="0"/>
          </a:p>
        </p:txBody>
      </p:sp>
      <p:sp>
        <p:nvSpPr>
          <p:cNvPr id="3" name="Text 1"/>
          <p:cNvSpPr/>
          <p:nvPr/>
        </p:nvSpPr>
        <p:spPr>
          <a:xfrm>
            <a:off x="457200" y="868680"/>
            <a:ext cx="8229600" cy="320040"/>
          </a:xfrm>
          <a:prstGeom prst="rect">
            <a:avLst/>
          </a:prstGeom>
          <a:noFill/>
          <a:ln/>
        </p:spPr>
        <p:txBody>
          <a:bodyPr wrap="square" lIns="0" tIns="0" rIns="0" bIns="0" rtlCol="0" anchor="ctr"/>
          <a:lstStyle/>
          <a:p>
            <a:pPr algn="ctr" indent="0" marL="0">
              <a:buNone/>
            </a:pPr>
            <a:r>
              <a:rPr lang="en-US" sz="1400" i="1" dirty="0">
                <a:solidFill>
                  <a:srgbClr val="A09CB0"/>
                </a:solidFill>
                <a:latin typeface="Calibri" pitchFamily="34" charset="0"/>
                <a:ea typeface="Calibri" pitchFamily="34" charset="-122"/>
                <a:cs typeface="Calibri" pitchFamily="34" charset="-120"/>
              </a:rPr>
              <a:t>When maze paths are mysteriously linked</a:t>
            </a:r>
            <a:endParaRPr lang="en-US" sz="1400" dirty="0"/>
          </a:p>
        </p:txBody>
      </p:sp>
      <p:sp>
        <p:nvSpPr>
          <p:cNvPr id="4" name="Shape 2"/>
          <p:cNvSpPr/>
          <p:nvPr/>
        </p:nvSpPr>
        <p:spPr>
          <a:xfrm>
            <a:off x="2743200" y="1508760"/>
            <a:ext cx="1645920" cy="1645920"/>
          </a:xfrm>
          <a:prstGeom prst="ellipse">
            <a:avLst/>
          </a:prstGeom>
          <a:solidFill>
            <a:srgbClr val="6C3CE1">
              <a:alpha val="80000"/>
            </a:srgbClr>
          </a:solidFill>
          <a:ln w="25400">
            <a:solidFill>
              <a:srgbClr val="6C3CE1"/>
            </a:solidFill>
            <a:prstDash val="solid"/>
          </a:ln>
        </p:spPr>
      </p:sp>
      <p:sp>
        <p:nvSpPr>
          <p:cNvPr id="5" name="Text 3"/>
          <p:cNvSpPr/>
          <p:nvPr/>
        </p:nvSpPr>
        <p:spPr>
          <a:xfrm>
            <a:off x="2743200" y="1508760"/>
            <a:ext cx="1645920" cy="1645920"/>
          </a:xfrm>
          <a:prstGeom prst="rect">
            <a:avLst/>
          </a:prstGeom>
          <a:noFill/>
          <a:ln/>
        </p:spPr>
        <p:txBody>
          <a:bodyPr wrap="square" lIns="0" tIns="0" rIns="0" bIns="0" rtlCol="0" anchor="ctr"/>
          <a:lstStyle/>
          <a:p>
            <a:pPr algn="ctr" indent="0" marL="0">
              <a:buNone/>
            </a:pPr>
            <a:r>
              <a:rPr lang="en-US" sz="1400" b="1" dirty="0">
                <a:solidFill>
                  <a:srgbClr val="1A1035"/>
                </a:solidFill>
                <a:latin typeface="Trebuchet MS" pitchFamily="34" charset="0"/>
                <a:ea typeface="Trebuchet MS" pitchFamily="34" charset="-122"/>
                <a:cs typeface="Trebuchet MS" pitchFamily="34" charset="-120"/>
              </a:rPr>
              <a:t>Qubit A</a:t>
            </a:r>
            <a:endParaRPr lang="en-US" sz="1400" dirty="0"/>
          </a:p>
        </p:txBody>
      </p:sp>
      <p:sp>
        <p:nvSpPr>
          <p:cNvPr id="6" name="Shape 4"/>
          <p:cNvSpPr/>
          <p:nvPr/>
        </p:nvSpPr>
        <p:spPr>
          <a:xfrm>
            <a:off x="4754880" y="1508760"/>
            <a:ext cx="1645920" cy="1645920"/>
          </a:xfrm>
          <a:prstGeom prst="ellipse">
            <a:avLst/>
          </a:prstGeom>
          <a:solidFill>
            <a:srgbClr val="00D4AA">
              <a:alpha val="80000"/>
            </a:srgbClr>
          </a:solidFill>
          <a:ln w="25400">
            <a:solidFill>
              <a:srgbClr val="00D4AA"/>
            </a:solidFill>
            <a:prstDash val="solid"/>
          </a:ln>
        </p:spPr>
      </p:sp>
      <p:sp>
        <p:nvSpPr>
          <p:cNvPr id="7" name="Text 5"/>
          <p:cNvSpPr/>
          <p:nvPr/>
        </p:nvSpPr>
        <p:spPr>
          <a:xfrm>
            <a:off x="4754880" y="1508760"/>
            <a:ext cx="1645920" cy="1645920"/>
          </a:xfrm>
          <a:prstGeom prst="rect">
            <a:avLst/>
          </a:prstGeom>
          <a:noFill/>
          <a:ln/>
        </p:spPr>
        <p:txBody>
          <a:bodyPr wrap="square" lIns="0" tIns="0" rIns="0" bIns="0" rtlCol="0" anchor="ctr"/>
          <a:lstStyle/>
          <a:p>
            <a:pPr algn="ctr" indent="0" marL="0">
              <a:buNone/>
            </a:pPr>
            <a:r>
              <a:rPr lang="en-US" sz="1400" b="1" dirty="0">
                <a:solidFill>
                  <a:srgbClr val="1A1035"/>
                </a:solidFill>
                <a:latin typeface="Trebuchet MS" pitchFamily="34" charset="0"/>
                <a:ea typeface="Trebuchet MS" pitchFamily="34" charset="-122"/>
                <a:cs typeface="Trebuchet MS" pitchFamily="34" charset="-120"/>
              </a:rPr>
              <a:t>Qubit B</a:t>
            </a:r>
            <a:endParaRPr lang="en-US" sz="1400" dirty="0"/>
          </a:p>
        </p:txBody>
      </p:sp>
      <p:pic>
        <p:nvPicPr>
          <p:cNvPr id="8" name="Image 0" descr="preencoded.png">    </p:cNvPr>
          <p:cNvPicPr>
            <a:picLocks noChangeAspect="1"/>
          </p:cNvPicPr>
          <p:nvPr/>
        </p:nvPicPr>
        <p:blipFill>
          <a:blip r:embed="rId1"/>
          <a:stretch>
            <a:fillRect/>
          </a:stretch>
        </p:blipFill>
        <p:spPr>
          <a:xfrm>
            <a:off x="4206240" y="2011680"/>
            <a:ext cx="640080" cy="640080"/>
          </a:xfrm>
          <a:prstGeom prst="rect">
            <a:avLst/>
          </a:prstGeom>
        </p:spPr>
      </p:pic>
      <p:sp>
        <p:nvSpPr>
          <p:cNvPr id="9" name="Shape 6"/>
          <p:cNvSpPr/>
          <p:nvPr/>
        </p:nvSpPr>
        <p:spPr>
          <a:xfrm>
            <a:off x="731520" y="3337560"/>
            <a:ext cx="7680960" cy="155448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10" name="Shape 7"/>
          <p:cNvSpPr/>
          <p:nvPr/>
        </p:nvSpPr>
        <p:spPr>
          <a:xfrm>
            <a:off x="731520" y="3337560"/>
            <a:ext cx="73152" cy="1554480"/>
          </a:xfrm>
          <a:prstGeom prst="rect">
            <a:avLst/>
          </a:prstGeom>
          <a:solidFill>
            <a:srgbClr val="6C3CE1"/>
          </a:solidFill>
          <a:ln/>
        </p:spPr>
      </p:sp>
      <p:sp>
        <p:nvSpPr>
          <p:cNvPr id="11" name="Text 8"/>
          <p:cNvSpPr/>
          <p:nvPr/>
        </p:nvSpPr>
        <p:spPr>
          <a:xfrm>
            <a:off x="1051560" y="3474720"/>
            <a:ext cx="7132320" cy="1280160"/>
          </a:xfrm>
          <a:prstGeom prst="rect">
            <a:avLst/>
          </a:prstGeom>
          <a:noFill/>
          <a:ln/>
        </p:spPr>
        <p:txBody>
          <a:bodyPr wrap="square" lIns="0" tIns="0" rIns="0" bIns="0" rtlCol="0" anchor="t"/>
          <a:lstStyle/>
          <a:p>
            <a:pPr algn="l" indent="0" marL="0">
              <a:lnSpc>
                <a:spcPct val="135000"/>
              </a:lnSpc>
              <a:buNone/>
            </a:pPr>
            <a:r>
              <a:rPr lang="en-US" sz="1300" dirty="0">
                <a:solidFill>
                  <a:srgbClr val="1A1035"/>
                </a:solidFill>
                <a:latin typeface="Calibri" pitchFamily="34" charset="0"/>
                <a:ea typeface="Calibri" pitchFamily="34" charset="-122"/>
                <a:cs typeface="Calibri" pitchFamily="34" charset="-120"/>
              </a:rPr>
              <a:t>Imagine two people in different parts of the maze, each facing a fork. They've never communicated, yet every time one turns left, the other turns right — instantly, no matter how far apart they are. That's entanglement. Einstein famously called it "spooky action at a distance." In quantum computing, entangled qubits share information without any physical connection, allowing the maze to coordinate its own solution across vast distances simultaneously.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03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457200" y="274320"/>
            <a:ext cx="502920" cy="502920"/>
          </a:xfrm>
          <a:prstGeom prst="rect">
            <a:avLst/>
          </a:prstGeom>
        </p:spPr>
      </p:pic>
      <p:sp>
        <p:nvSpPr>
          <p:cNvPr id="4" name="Text 0"/>
          <p:cNvSpPr/>
          <p:nvPr/>
        </p:nvSpPr>
        <p:spPr>
          <a:xfrm>
            <a:off x="1097280" y="274320"/>
            <a:ext cx="4572000" cy="548640"/>
          </a:xfrm>
          <a:prstGeom prst="rect">
            <a:avLst/>
          </a:prstGeom>
          <a:noFill/>
          <a:ln/>
        </p:spPr>
        <p:txBody>
          <a:bodyPr wrap="square" lIns="0" tIns="0" rIns="0" bIns="0"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Quantum Gates</a:t>
            </a:r>
            <a:endParaRPr lang="en-US" sz="3200" dirty="0"/>
          </a:p>
        </p:txBody>
      </p:sp>
      <p:sp>
        <p:nvSpPr>
          <p:cNvPr id="5" name="Text 1"/>
          <p:cNvSpPr/>
          <p:nvPr/>
        </p:nvSpPr>
        <p:spPr>
          <a:xfrm>
            <a:off x="1097280" y="777240"/>
            <a:ext cx="4572000" cy="320040"/>
          </a:xfrm>
          <a:prstGeom prst="rect">
            <a:avLst/>
          </a:prstGeom>
          <a:noFill/>
          <a:ln/>
        </p:spPr>
        <p:txBody>
          <a:bodyPr wrap="square" lIns="0" tIns="0" rIns="0" bIns="0" rtlCol="0" anchor="ctr"/>
          <a:lstStyle/>
          <a:p>
            <a:pPr indent="0" marL="0">
              <a:buNone/>
            </a:pPr>
            <a:r>
              <a:rPr lang="en-US" sz="1400" i="1" dirty="0">
                <a:solidFill>
                  <a:srgbClr val="00D4AA"/>
                </a:solidFill>
                <a:latin typeface="Calibri" pitchFamily="34" charset="0"/>
                <a:ea typeface="Calibri" pitchFamily="34" charset="-122"/>
                <a:cs typeface="Calibri" pitchFamily="34" charset="-120"/>
              </a:rPr>
              <a:t>The levers and trapdoors of the maze</a:t>
            </a:r>
            <a:endParaRPr lang="en-US" sz="1400" dirty="0"/>
          </a:p>
        </p:txBody>
      </p:sp>
      <p:sp>
        <p:nvSpPr>
          <p:cNvPr id="6" name="Shape 2"/>
          <p:cNvSpPr/>
          <p:nvPr/>
        </p:nvSpPr>
        <p:spPr>
          <a:xfrm>
            <a:off x="457200" y="1371600"/>
            <a:ext cx="2651760" cy="3200400"/>
          </a:xfrm>
          <a:prstGeom prst="rect">
            <a:avLst/>
          </a:prstGeom>
          <a:solidFill>
            <a:srgbClr val="251A4A"/>
          </a:solidFill>
          <a:ln/>
          <a:effectLst>
            <a:outerShdw sx="100000" sy="100000" kx="0" ky="0" algn="bl" rotWithShape="0" blurRad="101600" dist="38100" dir="8100000">
              <a:srgbClr val="000000">
                <a:alpha val="25000"/>
              </a:srgbClr>
            </a:outerShdw>
          </a:effectLst>
        </p:spPr>
      </p:sp>
      <p:sp>
        <p:nvSpPr>
          <p:cNvPr id="7" name="Shape 3"/>
          <p:cNvSpPr/>
          <p:nvPr/>
        </p:nvSpPr>
        <p:spPr>
          <a:xfrm>
            <a:off x="457200" y="1371600"/>
            <a:ext cx="2651760" cy="54864"/>
          </a:xfrm>
          <a:prstGeom prst="rect">
            <a:avLst/>
          </a:prstGeom>
          <a:solidFill>
            <a:srgbClr val="6C3CE1"/>
          </a:solidFill>
          <a:ln/>
        </p:spPr>
      </p:sp>
      <p:sp>
        <p:nvSpPr>
          <p:cNvPr id="8" name="Text 4"/>
          <p:cNvSpPr/>
          <p:nvPr/>
        </p:nvSpPr>
        <p:spPr>
          <a:xfrm>
            <a:off x="640080" y="1600200"/>
            <a:ext cx="2286000" cy="457200"/>
          </a:xfrm>
          <a:prstGeom prst="rect">
            <a:avLst/>
          </a:prstGeom>
          <a:noFill/>
          <a:ln/>
        </p:spPr>
        <p:txBody>
          <a:bodyPr wrap="square" lIns="0" tIns="0" rIns="0" bIns="0" rtlCol="0" anchor="ctr"/>
          <a:lstStyle/>
          <a:p>
            <a:pPr indent="0" marL="0">
              <a:buNone/>
            </a:pPr>
            <a:r>
              <a:rPr lang="en-US" sz="1600" b="1" dirty="0">
                <a:solidFill>
                  <a:srgbClr val="6C3CE1"/>
                </a:solidFill>
                <a:latin typeface="Trebuchet MS" pitchFamily="34" charset="0"/>
                <a:ea typeface="Trebuchet MS" pitchFamily="34" charset="-122"/>
                <a:cs typeface="Trebuchet MS" pitchFamily="34" charset="-120"/>
              </a:rPr>
              <a:t>Hadamard (H) Gate</a:t>
            </a:r>
            <a:endParaRPr lang="en-US" sz="1600" dirty="0"/>
          </a:p>
        </p:txBody>
      </p:sp>
      <p:sp>
        <p:nvSpPr>
          <p:cNvPr id="9" name="Text 5"/>
          <p:cNvSpPr/>
          <p:nvPr/>
        </p:nvSpPr>
        <p:spPr>
          <a:xfrm>
            <a:off x="640080" y="2148840"/>
            <a:ext cx="2286000" cy="2194560"/>
          </a:xfrm>
          <a:prstGeom prst="rect">
            <a:avLst/>
          </a:prstGeom>
          <a:noFill/>
          <a:ln/>
        </p:spPr>
        <p:txBody>
          <a:bodyPr wrap="square" lIns="0" tIns="0" rIns="0" bIns="0" rtlCol="0" anchor="t"/>
          <a:lstStyle/>
          <a:p>
            <a:pPr algn="l" indent="0" marL="0">
              <a:lnSpc>
                <a:spcPct val="135000"/>
              </a:lnSpc>
              <a:buNone/>
            </a:pPr>
            <a:r>
              <a:rPr lang="en-US" sz="1200" dirty="0">
                <a:solidFill>
                  <a:srgbClr val="FFFFFF"/>
                </a:solidFill>
                <a:latin typeface="Calibri" pitchFamily="34" charset="0"/>
                <a:ea typeface="Calibri" pitchFamily="34" charset="-122"/>
                <a:cs typeface="Calibri" pitchFamily="34" charset="-120"/>
              </a:rPr>
              <a:t>Opens all paths at once. It takes a qubit locked into 0 or 1 and puts it into superposition — like pulling a lever that opens every door in the maze simultaneously.</a:t>
            </a:r>
            <a:endParaRPr lang="en-US" sz="1200" dirty="0"/>
          </a:p>
        </p:txBody>
      </p:sp>
      <p:sp>
        <p:nvSpPr>
          <p:cNvPr id="10" name="Shape 6"/>
          <p:cNvSpPr/>
          <p:nvPr/>
        </p:nvSpPr>
        <p:spPr>
          <a:xfrm>
            <a:off x="3337560" y="1371600"/>
            <a:ext cx="2651760" cy="3200400"/>
          </a:xfrm>
          <a:prstGeom prst="rect">
            <a:avLst/>
          </a:prstGeom>
          <a:solidFill>
            <a:srgbClr val="251A4A"/>
          </a:solidFill>
          <a:ln/>
          <a:effectLst>
            <a:outerShdw sx="100000" sy="100000" kx="0" ky="0" algn="bl" rotWithShape="0" blurRad="101600" dist="38100" dir="8100000">
              <a:srgbClr val="000000">
                <a:alpha val="25000"/>
              </a:srgbClr>
            </a:outerShdw>
          </a:effectLst>
        </p:spPr>
      </p:sp>
      <p:sp>
        <p:nvSpPr>
          <p:cNvPr id="11" name="Shape 7"/>
          <p:cNvSpPr/>
          <p:nvPr/>
        </p:nvSpPr>
        <p:spPr>
          <a:xfrm>
            <a:off x="3337560" y="1371600"/>
            <a:ext cx="2651760" cy="54864"/>
          </a:xfrm>
          <a:prstGeom prst="rect">
            <a:avLst/>
          </a:prstGeom>
          <a:solidFill>
            <a:srgbClr val="00D4AA"/>
          </a:solidFill>
          <a:ln/>
        </p:spPr>
      </p:sp>
      <p:sp>
        <p:nvSpPr>
          <p:cNvPr id="12" name="Text 8"/>
          <p:cNvSpPr/>
          <p:nvPr/>
        </p:nvSpPr>
        <p:spPr>
          <a:xfrm>
            <a:off x="3520440" y="1600200"/>
            <a:ext cx="2286000" cy="457200"/>
          </a:xfrm>
          <a:prstGeom prst="rect">
            <a:avLst/>
          </a:prstGeom>
          <a:noFill/>
          <a:ln/>
        </p:spPr>
        <p:txBody>
          <a:bodyPr wrap="square" lIns="0" tIns="0" rIns="0" bIns="0" rtlCol="0" anchor="ctr"/>
          <a:lstStyle/>
          <a:p>
            <a:pPr indent="0" marL="0">
              <a:buNone/>
            </a:pPr>
            <a:r>
              <a:rPr lang="en-US" sz="1600" b="1" dirty="0">
                <a:solidFill>
                  <a:srgbClr val="00D4AA"/>
                </a:solidFill>
                <a:latin typeface="Trebuchet MS" pitchFamily="34" charset="0"/>
                <a:ea typeface="Trebuchet MS" pitchFamily="34" charset="-122"/>
                <a:cs typeface="Trebuchet MS" pitchFamily="34" charset="-120"/>
              </a:rPr>
              <a:t>CNOT Gate</a:t>
            </a:r>
            <a:endParaRPr lang="en-US" sz="1600" dirty="0"/>
          </a:p>
        </p:txBody>
      </p:sp>
      <p:sp>
        <p:nvSpPr>
          <p:cNvPr id="13" name="Text 9"/>
          <p:cNvSpPr/>
          <p:nvPr/>
        </p:nvSpPr>
        <p:spPr>
          <a:xfrm>
            <a:off x="3520440" y="2148840"/>
            <a:ext cx="2286000" cy="2194560"/>
          </a:xfrm>
          <a:prstGeom prst="rect">
            <a:avLst/>
          </a:prstGeom>
          <a:noFill/>
          <a:ln/>
        </p:spPr>
        <p:txBody>
          <a:bodyPr wrap="square" lIns="0" tIns="0" rIns="0" bIns="0" rtlCol="0" anchor="t"/>
          <a:lstStyle/>
          <a:p>
            <a:pPr algn="l" indent="0" marL="0">
              <a:lnSpc>
                <a:spcPct val="135000"/>
              </a:lnSpc>
              <a:buNone/>
            </a:pPr>
            <a:r>
              <a:rPr lang="en-US" sz="1200" dirty="0">
                <a:solidFill>
                  <a:srgbClr val="FFFFFF"/>
                </a:solidFill>
                <a:latin typeface="Calibri" pitchFamily="34" charset="0"/>
                <a:ea typeface="Calibri" pitchFamily="34" charset="-122"/>
                <a:cs typeface="Calibri" pitchFamily="34" charset="-120"/>
              </a:rPr>
              <a:t>The entanglement gate. It links two qubits together so that one qubit's state instantly affects the other — like a maze where stepping on a tile in one corridor opens a wall somewhere else.</a:t>
            </a:r>
            <a:endParaRPr lang="en-US" sz="1200" dirty="0"/>
          </a:p>
        </p:txBody>
      </p:sp>
      <p:sp>
        <p:nvSpPr>
          <p:cNvPr id="14" name="Shape 10"/>
          <p:cNvSpPr/>
          <p:nvPr/>
        </p:nvSpPr>
        <p:spPr>
          <a:xfrm>
            <a:off x="6217920" y="1371600"/>
            <a:ext cx="2651760" cy="3200400"/>
          </a:xfrm>
          <a:prstGeom prst="rect">
            <a:avLst/>
          </a:prstGeom>
          <a:solidFill>
            <a:srgbClr val="251A4A"/>
          </a:solidFill>
          <a:ln/>
          <a:effectLst>
            <a:outerShdw sx="100000" sy="100000" kx="0" ky="0" algn="bl" rotWithShape="0" blurRad="101600" dist="38100" dir="8100000">
              <a:srgbClr val="000000">
                <a:alpha val="25000"/>
              </a:srgbClr>
            </a:outerShdw>
          </a:effectLst>
        </p:spPr>
      </p:sp>
      <p:sp>
        <p:nvSpPr>
          <p:cNvPr id="15" name="Shape 11"/>
          <p:cNvSpPr/>
          <p:nvPr/>
        </p:nvSpPr>
        <p:spPr>
          <a:xfrm>
            <a:off x="6217920" y="1371600"/>
            <a:ext cx="2651760" cy="54864"/>
          </a:xfrm>
          <a:prstGeom prst="rect">
            <a:avLst/>
          </a:prstGeom>
          <a:solidFill>
            <a:srgbClr val="FFD700"/>
          </a:solidFill>
          <a:ln/>
        </p:spPr>
      </p:sp>
      <p:sp>
        <p:nvSpPr>
          <p:cNvPr id="16" name="Text 12"/>
          <p:cNvSpPr/>
          <p:nvPr/>
        </p:nvSpPr>
        <p:spPr>
          <a:xfrm>
            <a:off x="6400800" y="1600200"/>
            <a:ext cx="2286000" cy="457200"/>
          </a:xfrm>
          <a:prstGeom prst="rect">
            <a:avLst/>
          </a:prstGeom>
          <a:noFill/>
          <a:ln/>
        </p:spPr>
        <p:txBody>
          <a:bodyPr wrap="square" lIns="0" tIns="0" rIns="0" bIns="0" rtlCol="0" anchor="ctr"/>
          <a:lstStyle/>
          <a:p>
            <a:pPr indent="0" marL="0">
              <a:buNone/>
            </a:pPr>
            <a:r>
              <a:rPr lang="en-US" sz="1600" b="1" dirty="0">
                <a:solidFill>
                  <a:srgbClr val="FFD700"/>
                </a:solidFill>
                <a:latin typeface="Trebuchet MS" pitchFamily="34" charset="0"/>
                <a:ea typeface="Trebuchet MS" pitchFamily="34" charset="-122"/>
                <a:cs typeface="Trebuchet MS" pitchFamily="34" charset="-120"/>
              </a:rPr>
              <a:t>Pauli-X Gate</a:t>
            </a:r>
            <a:endParaRPr lang="en-US" sz="1600" dirty="0"/>
          </a:p>
        </p:txBody>
      </p:sp>
      <p:sp>
        <p:nvSpPr>
          <p:cNvPr id="17" name="Text 13"/>
          <p:cNvSpPr/>
          <p:nvPr/>
        </p:nvSpPr>
        <p:spPr>
          <a:xfrm>
            <a:off x="6400800" y="2148840"/>
            <a:ext cx="2286000" cy="2194560"/>
          </a:xfrm>
          <a:prstGeom prst="rect">
            <a:avLst/>
          </a:prstGeom>
          <a:noFill/>
          <a:ln/>
        </p:spPr>
        <p:txBody>
          <a:bodyPr wrap="square" lIns="0" tIns="0" rIns="0" bIns="0" rtlCol="0" anchor="t"/>
          <a:lstStyle/>
          <a:p>
            <a:pPr algn="l" indent="0" marL="0">
              <a:lnSpc>
                <a:spcPct val="135000"/>
              </a:lnSpc>
              <a:buNone/>
            </a:pPr>
            <a:r>
              <a:rPr lang="en-US" sz="1200" dirty="0">
                <a:solidFill>
                  <a:srgbClr val="FFFFFF"/>
                </a:solidFill>
                <a:latin typeface="Calibri" pitchFamily="34" charset="0"/>
                <a:ea typeface="Calibri" pitchFamily="34" charset="-122"/>
                <a:cs typeface="Calibri" pitchFamily="34" charset="-120"/>
              </a:rPr>
              <a:t>The quantum flip switch. It flips a qubit from 0 to 1 or vice versa — like a trapdoor that drops you to the opposite side of the maze.</a:t>
            </a:r>
            <a:endParaRPr lang="en-US" sz="1200" dirty="0"/>
          </a:p>
        </p:txBody>
      </p:sp>
      <p:sp>
        <p:nvSpPr>
          <p:cNvPr id="18" name="Text 14"/>
          <p:cNvSpPr/>
          <p:nvPr/>
        </p:nvSpPr>
        <p:spPr>
          <a:xfrm>
            <a:off x="457200" y="4709160"/>
            <a:ext cx="8229600" cy="320040"/>
          </a:xfrm>
          <a:prstGeom prst="rect">
            <a:avLst/>
          </a:prstGeom>
          <a:noFill/>
          <a:ln/>
        </p:spPr>
        <p:txBody>
          <a:bodyPr wrap="square" lIns="0" tIns="0" rIns="0" bIns="0" rtlCol="0" anchor="ctr"/>
          <a:lstStyle/>
          <a:p>
            <a:pPr algn="ctr" indent="0" marL="0">
              <a:buNone/>
            </a:pPr>
            <a:r>
              <a:rPr lang="en-US" sz="1100" i="1" dirty="0">
                <a:solidFill>
                  <a:srgbClr val="A09CB0"/>
                </a:solidFill>
                <a:latin typeface="Calibri" pitchFamily="34" charset="0"/>
                <a:ea typeface="Calibri" pitchFamily="34" charset="-122"/>
                <a:cs typeface="Calibri" pitchFamily="34" charset="-120"/>
              </a:rPr>
              <a:t>Quantum gates are the instructions that guide qubits through the maze — creating, combining, and flipping possibilities.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ECF9"/>
        </a:solidFill>
      </p:bgPr>
    </p:bg>
    <p:spTree>
      <p:nvGrpSpPr>
        <p:cNvPr id="1" name=""/>
        <p:cNvGrpSpPr/>
        <p:nvPr/>
      </p:nvGrpSpPr>
      <p:grpSpPr>
        <a:xfrm>
          <a:off x="0" y="0"/>
          <a:ext cx="0" cy="0"/>
          <a:chOff x="0" y="0"/>
          <a:chExt cx="0" cy="0"/>
        </a:xfrm>
      </p:grpSpPr>
      <p:sp>
        <p:nvSpPr>
          <p:cNvPr id="2" name="Text 0"/>
          <p:cNvSpPr/>
          <p:nvPr/>
        </p:nvSpPr>
        <p:spPr>
          <a:xfrm>
            <a:off x="457200" y="274320"/>
            <a:ext cx="6400800" cy="640080"/>
          </a:xfrm>
          <a:prstGeom prst="rect">
            <a:avLst/>
          </a:prstGeom>
          <a:noFill/>
          <a:ln/>
        </p:spPr>
        <p:txBody>
          <a:bodyPr wrap="square" lIns="0" tIns="0" rIns="0" bIns="0" rtlCol="0" anchor="ctr"/>
          <a:lstStyle/>
          <a:p>
            <a:pPr indent="0" marL="0">
              <a:buNone/>
            </a:pPr>
            <a:r>
              <a:rPr lang="en-US" sz="3200" b="1" dirty="0">
                <a:solidFill>
                  <a:srgbClr val="1A1035"/>
                </a:solidFill>
                <a:latin typeface="Trebuchet MS" pitchFamily="34" charset="0"/>
                <a:ea typeface="Trebuchet MS" pitchFamily="34" charset="-122"/>
                <a:cs typeface="Trebuchet MS" pitchFamily="34" charset="-120"/>
              </a:rPr>
              <a:t>Quantum Algorithms</a:t>
            </a:r>
            <a:endParaRPr lang="en-US" sz="3200" dirty="0"/>
          </a:p>
        </p:txBody>
      </p:sp>
      <p:sp>
        <p:nvSpPr>
          <p:cNvPr id="3" name="Text 1"/>
          <p:cNvSpPr/>
          <p:nvPr/>
        </p:nvSpPr>
        <p:spPr>
          <a:xfrm>
            <a:off x="457200" y="868680"/>
            <a:ext cx="4572000" cy="365760"/>
          </a:xfrm>
          <a:prstGeom prst="rect">
            <a:avLst/>
          </a:prstGeom>
          <a:noFill/>
          <a:ln/>
        </p:spPr>
        <p:txBody>
          <a:bodyPr wrap="square" lIns="0" tIns="0" rIns="0" bIns="0" rtlCol="0" anchor="ctr"/>
          <a:lstStyle/>
          <a:p>
            <a:pPr indent="0" marL="0">
              <a:buNone/>
            </a:pPr>
            <a:r>
              <a:rPr lang="en-US" sz="1400" i="1" dirty="0">
                <a:solidFill>
                  <a:srgbClr val="6C3CE1"/>
                </a:solidFill>
                <a:latin typeface="Calibri" pitchFamily="34" charset="0"/>
                <a:ea typeface="Calibri" pitchFamily="34" charset="-122"/>
                <a:cs typeface="Calibri" pitchFamily="34" charset="-120"/>
              </a:rPr>
              <a:t>Strategies for solving the maze faster</a:t>
            </a:r>
            <a:endParaRPr lang="en-US" sz="1400" dirty="0"/>
          </a:p>
        </p:txBody>
      </p:sp>
      <p:sp>
        <p:nvSpPr>
          <p:cNvPr id="4" name="Shape 2"/>
          <p:cNvSpPr/>
          <p:nvPr/>
        </p:nvSpPr>
        <p:spPr>
          <a:xfrm>
            <a:off x="457200" y="1463040"/>
            <a:ext cx="3931920" cy="237744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5" name="Shape 3"/>
          <p:cNvSpPr/>
          <p:nvPr/>
        </p:nvSpPr>
        <p:spPr>
          <a:xfrm>
            <a:off x="457200" y="1463040"/>
            <a:ext cx="73152" cy="2377440"/>
          </a:xfrm>
          <a:prstGeom prst="rect">
            <a:avLst/>
          </a:prstGeom>
          <a:solidFill>
            <a:srgbClr val="6C3CE1"/>
          </a:solidFill>
          <a:ln/>
        </p:spPr>
      </p:sp>
      <p:sp>
        <p:nvSpPr>
          <p:cNvPr id="6" name="Text 4"/>
          <p:cNvSpPr/>
          <p:nvPr/>
        </p:nvSpPr>
        <p:spPr>
          <a:xfrm>
            <a:off x="777240" y="1600200"/>
            <a:ext cx="3291840" cy="411480"/>
          </a:xfrm>
          <a:prstGeom prst="rect">
            <a:avLst/>
          </a:prstGeom>
          <a:noFill/>
          <a:ln/>
        </p:spPr>
        <p:txBody>
          <a:bodyPr wrap="square" lIns="0" tIns="0" rIns="0" bIns="0" rtlCol="0" anchor="ctr"/>
          <a:lstStyle/>
          <a:p>
            <a:pPr indent="0" marL="0">
              <a:buNone/>
            </a:pPr>
            <a:r>
              <a:rPr lang="en-US" sz="1800" b="1" dirty="0">
                <a:solidFill>
                  <a:srgbClr val="6C3CE1"/>
                </a:solidFill>
                <a:latin typeface="Trebuchet MS" pitchFamily="34" charset="0"/>
                <a:ea typeface="Trebuchet MS" pitchFamily="34" charset="-122"/>
                <a:cs typeface="Trebuchet MS" pitchFamily="34" charset="-120"/>
              </a:rPr>
              <a:t>Grover's Algorithm</a:t>
            </a:r>
            <a:endParaRPr lang="en-US" sz="1800" dirty="0"/>
          </a:p>
        </p:txBody>
      </p:sp>
      <p:sp>
        <p:nvSpPr>
          <p:cNvPr id="7" name="Text 5"/>
          <p:cNvSpPr/>
          <p:nvPr/>
        </p:nvSpPr>
        <p:spPr>
          <a:xfrm>
            <a:off x="777240" y="2057400"/>
            <a:ext cx="3337560" cy="1600200"/>
          </a:xfrm>
          <a:prstGeom prst="rect">
            <a:avLst/>
          </a:prstGeom>
          <a:noFill/>
          <a:ln/>
        </p:spPr>
        <p:txBody>
          <a:bodyPr wrap="square" lIns="0" tIns="0" rIns="0" bIns="0" rtlCol="0" anchor="t"/>
          <a:lstStyle/>
          <a:p>
            <a:pPr algn="l" indent="0" marL="0">
              <a:lnSpc>
                <a:spcPct val="130000"/>
              </a:lnSpc>
              <a:buNone/>
            </a:pPr>
            <a:r>
              <a:rPr lang="en-US" sz="1200" dirty="0">
                <a:solidFill>
                  <a:srgbClr val="1A1035"/>
                </a:solidFill>
                <a:latin typeface="Calibri" pitchFamily="34" charset="0"/>
                <a:ea typeface="Calibri" pitchFamily="34" charset="-122"/>
                <a:cs typeface="Calibri" pitchFamily="34" charset="-120"/>
              </a:rPr>
              <a:t>Imagine searching for one specific room in a giant maze. Classically, you'd check every room one by one. Grover's algorithm amplifies the correct path's signal, like the right door glowing brighter and brighter with each step. It finds the answer in roughly the square root of the time a classical computer needs.</a:t>
            </a:r>
            <a:endParaRPr lang="en-US" sz="1200" dirty="0"/>
          </a:p>
        </p:txBody>
      </p:sp>
      <p:sp>
        <p:nvSpPr>
          <p:cNvPr id="8" name="Shape 6"/>
          <p:cNvSpPr/>
          <p:nvPr/>
        </p:nvSpPr>
        <p:spPr>
          <a:xfrm>
            <a:off x="4754880" y="1463040"/>
            <a:ext cx="3931920" cy="237744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9" name="Shape 7"/>
          <p:cNvSpPr/>
          <p:nvPr/>
        </p:nvSpPr>
        <p:spPr>
          <a:xfrm>
            <a:off x="4754880" y="1463040"/>
            <a:ext cx="73152" cy="2377440"/>
          </a:xfrm>
          <a:prstGeom prst="rect">
            <a:avLst/>
          </a:prstGeom>
          <a:solidFill>
            <a:srgbClr val="00D4AA"/>
          </a:solidFill>
          <a:ln/>
        </p:spPr>
      </p:sp>
      <p:sp>
        <p:nvSpPr>
          <p:cNvPr id="10" name="Text 8"/>
          <p:cNvSpPr/>
          <p:nvPr/>
        </p:nvSpPr>
        <p:spPr>
          <a:xfrm>
            <a:off x="5074920" y="1600200"/>
            <a:ext cx="3291840" cy="411480"/>
          </a:xfrm>
          <a:prstGeom prst="rect">
            <a:avLst/>
          </a:prstGeom>
          <a:noFill/>
          <a:ln/>
        </p:spPr>
        <p:txBody>
          <a:bodyPr wrap="square" lIns="0" tIns="0" rIns="0" bIns="0" rtlCol="0" anchor="ctr"/>
          <a:lstStyle/>
          <a:p>
            <a:pPr indent="0" marL="0">
              <a:buNone/>
            </a:pPr>
            <a:r>
              <a:rPr lang="en-US" sz="1800" b="1" dirty="0">
                <a:solidFill>
                  <a:srgbClr val="00B894"/>
                </a:solidFill>
                <a:latin typeface="Trebuchet MS" pitchFamily="34" charset="0"/>
                <a:ea typeface="Trebuchet MS" pitchFamily="34" charset="-122"/>
                <a:cs typeface="Trebuchet MS" pitchFamily="34" charset="-120"/>
              </a:rPr>
              <a:t>Shor's Algorithm</a:t>
            </a:r>
            <a:endParaRPr lang="en-US" sz="1800" dirty="0"/>
          </a:p>
        </p:txBody>
      </p:sp>
      <p:sp>
        <p:nvSpPr>
          <p:cNvPr id="11" name="Text 9"/>
          <p:cNvSpPr/>
          <p:nvPr/>
        </p:nvSpPr>
        <p:spPr>
          <a:xfrm>
            <a:off x="5074920" y="2057400"/>
            <a:ext cx="3337560" cy="1600200"/>
          </a:xfrm>
          <a:prstGeom prst="rect">
            <a:avLst/>
          </a:prstGeom>
          <a:noFill/>
          <a:ln/>
        </p:spPr>
        <p:txBody>
          <a:bodyPr wrap="square" lIns="0" tIns="0" rIns="0" bIns="0" rtlCol="0" anchor="t"/>
          <a:lstStyle/>
          <a:p>
            <a:pPr algn="l" indent="0" marL="0">
              <a:lnSpc>
                <a:spcPct val="130000"/>
              </a:lnSpc>
              <a:buNone/>
            </a:pPr>
            <a:r>
              <a:rPr lang="en-US" sz="1200" dirty="0">
                <a:solidFill>
                  <a:srgbClr val="1A1035"/>
                </a:solidFill>
                <a:latin typeface="Calibri" pitchFamily="34" charset="0"/>
                <a:ea typeface="Calibri" pitchFamily="34" charset="-122"/>
                <a:cs typeface="Calibri" pitchFamily="34" charset="-120"/>
              </a:rPr>
              <a:t>Modern encryption is like a maze lock that's almost impossible to pick because finding the key means factoring enormous numbers. Shor's algorithm can factor those numbers exponentially faster, effectively picking the lock. This is why quantum computing is both exciting and a security concern.</a:t>
            </a:r>
            <a:endParaRPr lang="en-US" sz="1200" dirty="0"/>
          </a:p>
        </p:txBody>
      </p:sp>
      <p:sp>
        <p:nvSpPr>
          <p:cNvPr id="12" name="Shape 10"/>
          <p:cNvSpPr/>
          <p:nvPr/>
        </p:nvSpPr>
        <p:spPr>
          <a:xfrm>
            <a:off x="2743200" y="4069080"/>
            <a:ext cx="3657600" cy="914400"/>
          </a:xfrm>
          <a:prstGeom prst="roundRect">
            <a:avLst>
              <a:gd name="adj" fmla="val 15000"/>
            </a:avLst>
          </a:prstGeom>
          <a:solidFill>
            <a:srgbClr val="FF6B6B"/>
          </a:solidFill>
          <a:ln/>
          <a:effectLst>
            <a:outerShdw sx="100000" sy="100000" kx="0" ky="0" algn="bl" rotWithShape="0" blurRad="101600" dist="38100" dir="8100000">
              <a:srgbClr val="000000">
                <a:alpha val="25000"/>
              </a:srgbClr>
            </a:outerShdw>
          </a:effectLst>
        </p:spPr>
      </p:sp>
      <p:pic>
        <p:nvPicPr>
          <p:cNvPr id="13" name="Image 0" descr="preencoded.png">    </p:cNvPr>
          <p:cNvPicPr>
            <a:picLocks noChangeAspect="1"/>
          </p:cNvPicPr>
          <p:nvPr/>
        </p:nvPicPr>
        <p:blipFill>
          <a:blip r:embed="rId1"/>
          <a:stretch>
            <a:fillRect/>
          </a:stretch>
        </p:blipFill>
        <p:spPr>
          <a:xfrm>
            <a:off x="3291840" y="4206240"/>
            <a:ext cx="411480" cy="411480"/>
          </a:xfrm>
          <a:prstGeom prst="rect">
            <a:avLst/>
          </a:prstGeom>
        </p:spPr>
      </p:pic>
      <p:sp>
        <p:nvSpPr>
          <p:cNvPr id="14" name="Text 11"/>
          <p:cNvSpPr/>
          <p:nvPr/>
        </p:nvSpPr>
        <p:spPr>
          <a:xfrm>
            <a:off x="3749040" y="4160520"/>
            <a:ext cx="2011680" cy="457200"/>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QUIZ TIME!</a:t>
            </a:r>
            <a:endParaRPr lang="en-US" sz="1800" dirty="0"/>
          </a:p>
        </p:txBody>
      </p:sp>
      <p:sp>
        <p:nvSpPr>
          <p:cNvPr id="15" name="Text 12"/>
          <p:cNvSpPr/>
          <p:nvPr/>
        </p:nvSpPr>
        <p:spPr>
          <a:xfrm>
            <a:off x="3017520" y="4617720"/>
            <a:ext cx="310896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Test your knowledge of quantum concepts!</a:t>
            </a:r>
            <a:endParaRPr lang="en-US" sz="1100" dirty="0"/>
          </a:p>
        </p:txBody>
      </p:sp>
      <p:sp>
        <p:nvSpPr>
          <p:cNvPr id="16" name="Text 13">
            <a:hlinkClick r:id="rId2" tooltip="Take the Advanced Quiz!"/>
          </p:cNvPr>
          <p:cNvSpPr/>
          <p:nvPr/>
        </p:nvSpPr>
        <p:spPr>
          <a:xfrm>
            <a:off x="2743200" y="4069080"/>
            <a:ext cx="3657600" cy="914400"/>
          </a:xfrm>
          <a:prstGeom prst="rect">
            <a:avLst/>
          </a:prstGeom>
          <a:noFill/>
          <a:ln/>
        </p:spPr>
        <p:txBody>
          <a:bodyPr wrap="square" rtlCol="0" anchor="ctr"/>
          <a:lstStyle/>
          <a:p>
            <a:pPr indent="0" marL="0">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03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4114800" y="228600"/>
            <a:ext cx="548640" cy="548640"/>
          </a:xfrm>
          <a:prstGeom prst="rect">
            <a:avLst/>
          </a:prstGeom>
        </p:spPr>
      </p:pic>
      <p:sp>
        <p:nvSpPr>
          <p:cNvPr id="4" name="Text 0"/>
          <p:cNvSpPr/>
          <p:nvPr/>
        </p:nvSpPr>
        <p:spPr>
          <a:xfrm>
            <a:off x="457200" y="777240"/>
            <a:ext cx="8229600" cy="548640"/>
          </a:xfrm>
          <a:prstGeom prst="rect">
            <a:avLst/>
          </a:prstGeom>
          <a:noFill/>
          <a:ln/>
        </p:spPr>
        <p:txBody>
          <a:bodyPr wrap="square" lIns="0" tIns="0" rIns="0" bIns="0" rtlCol="0" anchor="ctr"/>
          <a:lstStyle/>
          <a:p>
            <a:pPr algn="ctr" indent="0" marL="0">
              <a:buNone/>
            </a:pPr>
            <a:r>
              <a:rPr lang="en-US" sz="3200" b="1" dirty="0">
                <a:solidFill>
                  <a:srgbClr val="FFFFFF"/>
                </a:solidFill>
                <a:latin typeface="Trebuchet MS" pitchFamily="34" charset="0"/>
                <a:ea typeface="Trebuchet MS" pitchFamily="34" charset="-122"/>
                <a:cs typeface="Trebuchet MS" pitchFamily="34" charset="-120"/>
              </a:rPr>
              <a:t>Real-World Applications</a:t>
            </a:r>
            <a:endParaRPr lang="en-US" sz="3200" dirty="0"/>
          </a:p>
        </p:txBody>
      </p:sp>
      <p:sp>
        <p:nvSpPr>
          <p:cNvPr id="5" name="Text 1"/>
          <p:cNvSpPr/>
          <p:nvPr/>
        </p:nvSpPr>
        <p:spPr>
          <a:xfrm>
            <a:off x="457200" y="1280160"/>
            <a:ext cx="8229600" cy="274320"/>
          </a:xfrm>
          <a:prstGeom prst="rect">
            <a:avLst/>
          </a:prstGeom>
          <a:noFill/>
          <a:ln/>
        </p:spPr>
        <p:txBody>
          <a:bodyPr wrap="square" lIns="0" tIns="0" rIns="0" bIns="0" rtlCol="0" anchor="ctr"/>
          <a:lstStyle/>
          <a:p>
            <a:pPr algn="ctr" indent="0" marL="0">
              <a:buNone/>
            </a:pPr>
            <a:r>
              <a:rPr lang="en-US" sz="1300" i="1" dirty="0">
                <a:solidFill>
                  <a:srgbClr val="00D4AA"/>
                </a:solidFill>
                <a:latin typeface="Calibri" pitchFamily="34" charset="0"/>
                <a:ea typeface="Calibri" pitchFamily="34" charset="-122"/>
                <a:cs typeface="Calibri" pitchFamily="34" charset="-120"/>
              </a:rPr>
              <a:t>Where the maze leads in the real world</a:t>
            </a:r>
            <a:endParaRPr lang="en-US" sz="1300" dirty="0"/>
          </a:p>
        </p:txBody>
      </p:sp>
      <p:sp>
        <p:nvSpPr>
          <p:cNvPr id="6" name="Shape 2"/>
          <p:cNvSpPr/>
          <p:nvPr/>
        </p:nvSpPr>
        <p:spPr>
          <a:xfrm>
            <a:off x="457200" y="1783080"/>
            <a:ext cx="4114800" cy="1325880"/>
          </a:xfrm>
          <a:prstGeom prst="rect">
            <a:avLst/>
          </a:prstGeom>
          <a:solidFill>
            <a:srgbClr val="251A4A"/>
          </a:solidFill>
          <a:ln/>
          <a:effectLst>
            <a:outerShdw sx="100000" sy="100000" kx="0" ky="0" algn="bl" rotWithShape="0" blurRad="101600" dist="38100" dir="8100000">
              <a:srgbClr val="000000">
                <a:alpha val="25000"/>
              </a:srgbClr>
            </a:outerShdw>
          </a:effectLst>
        </p:spPr>
      </p:sp>
      <p:sp>
        <p:nvSpPr>
          <p:cNvPr id="7" name="Shape 3"/>
          <p:cNvSpPr/>
          <p:nvPr/>
        </p:nvSpPr>
        <p:spPr>
          <a:xfrm>
            <a:off x="457200" y="1783080"/>
            <a:ext cx="73152" cy="1325880"/>
          </a:xfrm>
          <a:prstGeom prst="rect">
            <a:avLst/>
          </a:prstGeom>
          <a:solidFill>
            <a:srgbClr val="6C3CE1"/>
          </a:solidFill>
          <a:ln/>
        </p:spPr>
      </p:sp>
      <p:sp>
        <p:nvSpPr>
          <p:cNvPr id="8" name="Text 4"/>
          <p:cNvSpPr/>
          <p:nvPr/>
        </p:nvSpPr>
        <p:spPr>
          <a:xfrm>
            <a:off x="731520" y="1892808"/>
            <a:ext cx="3566160" cy="320040"/>
          </a:xfrm>
          <a:prstGeom prst="rect">
            <a:avLst/>
          </a:prstGeom>
          <a:noFill/>
          <a:ln/>
        </p:spPr>
        <p:txBody>
          <a:bodyPr wrap="square" lIns="0" tIns="0" rIns="0" bIns="0" rtlCol="0" anchor="ctr"/>
          <a:lstStyle/>
          <a:p>
            <a:pPr indent="0" marL="0">
              <a:buNone/>
            </a:pPr>
            <a:r>
              <a:rPr lang="en-US" sz="1500" b="1" dirty="0">
                <a:solidFill>
                  <a:srgbClr val="6C3CE1"/>
                </a:solidFill>
                <a:latin typeface="Trebuchet MS" pitchFamily="34" charset="0"/>
                <a:ea typeface="Trebuchet MS" pitchFamily="34" charset="-122"/>
                <a:cs typeface="Trebuchet MS" pitchFamily="34" charset="-120"/>
              </a:rPr>
              <a:t>Drug Discovery</a:t>
            </a:r>
            <a:endParaRPr lang="en-US" sz="1500" dirty="0"/>
          </a:p>
        </p:txBody>
      </p:sp>
      <p:sp>
        <p:nvSpPr>
          <p:cNvPr id="9" name="Text 5"/>
          <p:cNvSpPr/>
          <p:nvPr/>
        </p:nvSpPr>
        <p:spPr>
          <a:xfrm>
            <a:off x="731520" y="2240280"/>
            <a:ext cx="3566160" cy="777240"/>
          </a:xfrm>
          <a:prstGeom prst="rect">
            <a:avLst/>
          </a:prstGeom>
          <a:noFill/>
          <a:ln/>
        </p:spPr>
        <p:txBody>
          <a:bodyPr wrap="square" lIns="0" tIns="0" rIns="0" bIns="0" rtlCol="0" anchor="t"/>
          <a:lstStyle/>
          <a:p>
            <a:pPr algn="l" indent="0" marL="0">
              <a:lnSpc>
                <a:spcPct val="130000"/>
              </a:lnSpc>
              <a:buNone/>
            </a:pPr>
            <a:r>
              <a:rPr lang="en-US" sz="1150" dirty="0">
                <a:solidFill>
                  <a:srgbClr val="FFFFFF"/>
                </a:solidFill>
                <a:latin typeface="Calibri" pitchFamily="34" charset="0"/>
                <a:ea typeface="Calibri" pitchFamily="34" charset="-122"/>
                <a:cs typeface="Calibri" pitchFamily="34" charset="-120"/>
              </a:rPr>
              <a:t>Simulating molecular interactions to find new medicines — navigating the maze of chemical possibilities in hours instead of years.</a:t>
            </a:r>
            <a:endParaRPr lang="en-US" sz="1150" dirty="0"/>
          </a:p>
        </p:txBody>
      </p:sp>
      <p:sp>
        <p:nvSpPr>
          <p:cNvPr id="10" name="Shape 6"/>
          <p:cNvSpPr/>
          <p:nvPr/>
        </p:nvSpPr>
        <p:spPr>
          <a:xfrm>
            <a:off x="4800600" y="1783080"/>
            <a:ext cx="4114800" cy="1325880"/>
          </a:xfrm>
          <a:prstGeom prst="rect">
            <a:avLst/>
          </a:prstGeom>
          <a:solidFill>
            <a:srgbClr val="251A4A"/>
          </a:solidFill>
          <a:ln/>
          <a:effectLst>
            <a:outerShdw sx="100000" sy="100000" kx="0" ky="0" algn="bl" rotWithShape="0" blurRad="101600" dist="38100" dir="8100000">
              <a:srgbClr val="000000">
                <a:alpha val="25000"/>
              </a:srgbClr>
            </a:outerShdw>
          </a:effectLst>
        </p:spPr>
      </p:sp>
      <p:sp>
        <p:nvSpPr>
          <p:cNvPr id="11" name="Shape 7"/>
          <p:cNvSpPr/>
          <p:nvPr/>
        </p:nvSpPr>
        <p:spPr>
          <a:xfrm>
            <a:off x="4800600" y="1783080"/>
            <a:ext cx="73152" cy="1325880"/>
          </a:xfrm>
          <a:prstGeom prst="rect">
            <a:avLst/>
          </a:prstGeom>
          <a:solidFill>
            <a:srgbClr val="00D4AA"/>
          </a:solidFill>
          <a:ln/>
        </p:spPr>
      </p:sp>
      <p:sp>
        <p:nvSpPr>
          <p:cNvPr id="12" name="Text 8"/>
          <p:cNvSpPr/>
          <p:nvPr/>
        </p:nvSpPr>
        <p:spPr>
          <a:xfrm>
            <a:off x="5074920" y="1892808"/>
            <a:ext cx="3566160" cy="320040"/>
          </a:xfrm>
          <a:prstGeom prst="rect">
            <a:avLst/>
          </a:prstGeom>
          <a:noFill/>
          <a:ln/>
        </p:spPr>
        <p:txBody>
          <a:bodyPr wrap="square" lIns="0" tIns="0" rIns="0" bIns="0" rtlCol="0" anchor="ctr"/>
          <a:lstStyle/>
          <a:p>
            <a:pPr indent="0" marL="0">
              <a:buNone/>
            </a:pPr>
            <a:r>
              <a:rPr lang="en-US" sz="1500" b="1" dirty="0">
                <a:solidFill>
                  <a:srgbClr val="00D4AA"/>
                </a:solidFill>
                <a:latin typeface="Trebuchet MS" pitchFamily="34" charset="0"/>
                <a:ea typeface="Trebuchet MS" pitchFamily="34" charset="-122"/>
                <a:cs typeface="Trebuchet MS" pitchFamily="34" charset="-120"/>
              </a:rPr>
              <a:t>Cryptography</a:t>
            </a:r>
            <a:endParaRPr lang="en-US" sz="1500" dirty="0"/>
          </a:p>
        </p:txBody>
      </p:sp>
      <p:sp>
        <p:nvSpPr>
          <p:cNvPr id="13" name="Text 9"/>
          <p:cNvSpPr/>
          <p:nvPr/>
        </p:nvSpPr>
        <p:spPr>
          <a:xfrm>
            <a:off x="5074920" y="2240280"/>
            <a:ext cx="3566160" cy="777240"/>
          </a:xfrm>
          <a:prstGeom prst="rect">
            <a:avLst/>
          </a:prstGeom>
          <a:noFill/>
          <a:ln/>
        </p:spPr>
        <p:txBody>
          <a:bodyPr wrap="square" lIns="0" tIns="0" rIns="0" bIns="0" rtlCol="0" anchor="t"/>
          <a:lstStyle/>
          <a:p>
            <a:pPr algn="l" indent="0" marL="0">
              <a:lnSpc>
                <a:spcPct val="130000"/>
              </a:lnSpc>
              <a:buNone/>
            </a:pPr>
            <a:r>
              <a:rPr lang="en-US" sz="1150" dirty="0">
                <a:solidFill>
                  <a:srgbClr val="FFFFFF"/>
                </a:solidFill>
                <a:latin typeface="Calibri" pitchFamily="34" charset="0"/>
                <a:ea typeface="Calibri" pitchFamily="34" charset="-122"/>
                <a:cs typeface="Calibri" pitchFamily="34" charset="-120"/>
              </a:rPr>
              <a:t>Breaking and building new encryption systems — reshaping the locks and keys that protect the digital maze of the internet.</a:t>
            </a:r>
            <a:endParaRPr lang="en-US" sz="1150" dirty="0"/>
          </a:p>
        </p:txBody>
      </p:sp>
      <p:sp>
        <p:nvSpPr>
          <p:cNvPr id="14" name="Shape 10"/>
          <p:cNvSpPr/>
          <p:nvPr/>
        </p:nvSpPr>
        <p:spPr>
          <a:xfrm>
            <a:off x="457200" y="3291840"/>
            <a:ext cx="4114800" cy="1325880"/>
          </a:xfrm>
          <a:prstGeom prst="rect">
            <a:avLst/>
          </a:prstGeom>
          <a:solidFill>
            <a:srgbClr val="251A4A"/>
          </a:solidFill>
          <a:ln/>
          <a:effectLst>
            <a:outerShdw sx="100000" sy="100000" kx="0" ky="0" algn="bl" rotWithShape="0" blurRad="101600" dist="38100" dir="8100000">
              <a:srgbClr val="000000">
                <a:alpha val="25000"/>
              </a:srgbClr>
            </a:outerShdw>
          </a:effectLst>
        </p:spPr>
      </p:sp>
      <p:sp>
        <p:nvSpPr>
          <p:cNvPr id="15" name="Shape 11"/>
          <p:cNvSpPr/>
          <p:nvPr/>
        </p:nvSpPr>
        <p:spPr>
          <a:xfrm>
            <a:off x="457200" y="3291840"/>
            <a:ext cx="73152" cy="1325880"/>
          </a:xfrm>
          <a:prstGeom prst="rect">
            <a:avLst/>
          </a:prstGeom>
          <a:solidFill>
            <a:srgbClr val="FFD700"/>
          </a:solidFill>
          <a:ln/>
        </p:spPr>
      </p:sp>
      <p:sp>
        <p:nvSpPr>
          <p:cNvPr id="16" name="Text 12"/>
          <p:cNvSpPr/>
          <p:nvPr/>
        </p:nvSpPr>
        <p:spPr>
          <a:xfrm>
            <a:off x="731520" y="3401568"/>
            <a:ext cx="3566160" cy="320040"/>
          </a:xfrm>
          <a:prstGeom prst="rect">
            <a:avLst/>
          </a:prstGeom>
          <a:noFill/>
          <a:ln/>
        </p:spPr>
        <p:txBody>
          <a:bodyPr wrap="square" lIns="0" tIns="0" rIns="0" bIns="0" rtlCol="0" anchor="ctr"/>
          <a:lstStyle/>
          <a:p>
            <a:pPr indent="0" marL="0">
              <a:buNone/>
            </a:pPr>
            <a:r>
              <a:rPr lang="en-US" sz="1500" b="1" dirty="0">
                <a:solidFill>
                  <a:srgbClr val="FFD700"/>
                </a:solidFill>
                <a:latin typeface="Trebuchet MS" pitchFamily="34" charset="0"/>
                <a:ea typeface="Trebuchet MS" pitchFamily="34" charset="-122"/>
                <a:cs typeface="Trebuchet MS" pitchFamily="34" charset="-120"/>
              </a:rPr>
              <a:t>Climate Modeling</a:t>
            </a:r>
            <a:endParaRPr lang="en-US" sz="1500" dirty="0"/>
          </a:p>
        </p:txBody>
      </p:sp>
      <p:sp>
        <p:nvSpPr>
          <p:cNvPr id="17" name="Text 13"/>
          <p:cNvSpPr/>
          <p:nvPr/>
        </p:nvSpPr>
        <p:spPr>
          <a:xfrm>
            <a:off x="731520" y="3749040"/>
            <a:ext cx="3566160" cy="777240"/>
          </a:xfrm>
          <a:prstGeom prst="rect">
            <a:avLst/>
          </a:prstGeom>
          <a:noFill/>
          <a:ln/>
        </p:spPr>
        <p:txBody>
          <a:bodyPr wrap="square" lIns="0" tIns="0" rIns="0" bIns="0" rtlCol="0" anchor="t"/>
          <a:lstStyle/>
          <a:p>
            <a:pPr algn="l" indent="0" marL="0">
              <a:lnSpc>
                <a:spcPct val="130000"/>
              </a:lnSpc>
              <a:buNone/>
            </a:pPr>
            <a:r>
              <a:rPr lang="en-US" sz="1150" dirty="0">
                <a:solidFill>
                  <a:srgbClr val="FFFFFF"/>
                </a:solidFill>
                <a:latin typeface="Calibri" pitchFamily="34" charset="0"/>
                <a:ea typeface="Calibri" pitchFamily="34" charset="-122"/>
                <a:cs typeface="Calibri" pitchFamily="34" charset="-120"/>
              </a:rPr>
              <a:t>Processing the impossibly complex maze of atmospheric data to predict climate patterns with unprecedented accuracy.</a:t>
            </a:r>
            <a:endParaRPr lang="en-US" sz="1150" dirty="0"/>
          </a:p>
        </p:txBody>
      </p:sp>
      <p:sp>
        <p:nvSpPr>
          <p:cNvPr id="18" name="Shape 14"/>
          <p:cNvSpPr/>
          <p:nvPr/>
        </p:nvSpPr>
        <p:spPr>
          <a:xfrm>
            <a:off x="4800600" y="3291840"/>
            <a:ext cx="4114800" cy="1325880"/>
          </a:xfrm>
          <a:prstGeom prst="rect">
            <a:avLst/>
          </a:prstGeom>
          <a:solidFill>
            <a:srgbClr val="251A4A"/>
          </a:solidFill>
          <a:ln/>
          <a:effectLst>
            <a:outerShdw sx="100000" sy="100000" kx="0" ky="0" algn="bl" rotWithShape="0" blurRad="101600" dist="38100" dir="8100000">
              <a:srgbClr val="000000">
                <a:alpha val="25000"/>
              </a:srgbClr>
            </a:outerShdw>
          </a:effectLst>
        </p:spPr>
      </p:sp>
      <p:sp>
        <p:nvSpPr>
          <p:cNvPr id="19" name="Shape 15"/>
          <p:cNvSpPr/>
          <p:nvPr/>
        </p:nvSpPr>
        <p:spPr>
          <a:xfrm>
            <a:off x="4800600" y="3291840"/>
            <a:ext cx="73152" cy="1325880"/>
          </a:xfrm>
          <a:prstGeom prst="rect">
            <a:avLst/>
          </a:prstGeom>
          <a:solidFill>
            <a:srgbClr val="FF6B6B"/>
          </a:solidFill>
          <a:ln/>
        </p:spPr>
      </p:sp>
      <p:sp>
        <p:nvSpPr>
          <p:cNvPr id="20" name="Text 16"/>
          <p:cNvSpPr/>
          <p:nvPr/>
        </p:nvSpPr>
        <p:spPr>
          <a:xfrm>
            <a:off x="5074920" y="3401568"/>
            <a:ext cx="3566160" cy="320040"/>
          </a:xfrm>
          <a:prstGeom prst="rect">
            <a:avLst/>
          </a:prstGeom>
          <a:noFill/>
          <a:ln/>
        </p:spPr>
        <p:txBody>
          <a:bodyPr wrap="square" lIns="0" tIns="0" rIns="0" bIns="0" rtlCol="0" anchor="ctr"/>
          <a:lstStyle/>
          <a:p>
            <a:pPr indent="0" marL="0">
              <a:buNone/>
            </a:pPr>
            <a:r>
              <a:rPr lang="en-US" sz="1500" b="1" dirty="0">
                <a:solidFill>
                  <a:srgbClr val="FF6B6B"/>
                </a:solidFill>
                <a:latin typeface="Trebuchet MS" pitchFamily="34" charset="0"/>
                <a:ea typeface="Trebuchet MS" pitchFamily="34" charset="-122"/>
                <a:cs typeface="Trebuchet MS" pitchFamily="34" charset="-120"/>
              </a:rPr>
              <a:t>AI &amp; Machine Learning</a:t>
            </a:r>
            <a:endParaRPr lang="en-US" sz="1500" dirty="0"/>
          </a:p>
        </p:txBody>
      </p:sp>
      <p:sp>
        <p:nvSpPr>
          <p:cNvPr id="21" name="Text 17"/>
          <p:cNvSpPr/>
          <p:nvPr/>
        </p:nvSpPr>
        <p:spPr>
          <a:xfrm>
            <a:off x="5074920" y="3749040"/>
            <a:ext cx="3566160" cy="777240"/>
          </a:xfrm>
          <a:prstGeom prst="rect">
            <a:avLst/>
          </a:prstGeom>
          <a:noFill/>
          <a:ln/>
        </p:spPr>
        <p:txBody>
          <a:bodyPr wrap="square" lIns="0" tIns="0" rIns="0" bIns="0" rtlCol="0" anchor="t"/>
          <a:lstStyle/>
          <a:p>
            <a:pPr algn="l" indent="0" marL="0">
              <a:lnSpc>
                <a:spcPct val="130000"/>
              </a:lnSpc>
              <a:buNone/>
            </a:pPr>
            <a:r>
              <a:rPr lang="en-US" sz="1150" dirty="0">
                <a:solidFill>
                  <a:srgbClr val="FFFFFF"/>
                </a:solidFill>
                <a:latin typeface="Calibri" pitchFamily="34" charset="0"/>
                <a:ea typeface="Calibri" pitchFamily="34" charset="-122"/>
                <a:cs typeface="Calibri" pitchFamily="34" charset="-120"/>
              </a:rPr>
              <a:t>Training artificial intelligence through the maze of data faster, finding patterns that classical computers would take centuries to discover.</a:t>
            </a:r>
            <a:endParaRPr lang="en-US" sz="1150" dirty="0"/>
          </a:p>
        </p:txBody>
      </p:sp>
      <p:sp>
        <p:nvSpPr>
          <p:cNvPr id="22" name="Text 18"/>
          <p:cNvSpPr/>
          <p:nvPr/>
        </p:nvSpPr>
        <p:spPr>
          <a:xfrm>
            <a:off x="457200" y="4709160"/>
            <a:ext cx="8229600" cy="320040"/>
          </a:xfrm>
          <a:prstGeom prst="rect">
            <a:avLst/>
          </a:prstGeom>
          <a:noFill/>
          <a:ln/>
        </p:spPr>
        <p:txBody>
          <a:bodyPr wrap="square" lIns="0" tIns="0" rIns="0" bIns="0" rtlCol="0" anchor="ctr"/>
          <a:lstStyle/>
          <a:p>
            <a:pPr algn="ctr" indent="0" marL="0">
              <a:buNone/>
            </a:pPr>
            <a:r>
              <a:rPr lang="en-US" sz="1100" i="1" dirty="0">
                <a:solidFill>
                  <a:srgbClr val="A09CB0"/>
                </a:solidFill>
                <a:latin typeface="Calibri" pitchFamily="34" charset="0"/>
                <a:ea typeface="Calibri" pitchFamily="34" charset="-122"/>
                <a:cs typeface="Calibri" pitchFamily="34" charset="-120"/>
              </a:rPr>
              <a:t>Every application is a new section of the maze waiting to be explored.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03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4023360" y="365760"/>
            <a:ext cx="1097280" cy="1097280"/>
          </a:xfrm>
          <a:prstGeom prst="rect">
            <a:avLst/>
          </a:prstGeom>
        </p:spPr>
      </p:pic>
      <p:sp>
        <p:nvSpPr>
          <p:cNvPr id="4" name="Text 0"/>
          <p:cNvSpPr/>
          <p:nvPr/>
        </p:nvSpPr>
        <p:spPr>
          <a:xfrm>
            <a:off x="457200" y="1554480"/>
            <a:ext cx="8229600" cy="731520"/>
          </a:xfrm>
          <a:prstGeom prst="rect">
            <a:avLst/>
          </a:prstGeom>
          <a:noFill/>
          <a:ln/>
        </p:spPr>
        <p:txBody>
          <a:bodyPr wrap="square" lIns="0" tIns="0" rIns="0" bIns="0" rtlCol="0" anchor="ctr"/>
          <a:lstStyle/>
          <a:p>
            <a:pPr algn="ctr" indent="0" marL="0">
              <a:buNone/>
            </a:pPr>
            <a:r>
              <a:rPr lang="en-US" sz="3800" b="1" spc="300" kern="0" dirty="0">
                <a:solidFill>
                  <a:srgbClr val="FFFFFF"/>
                </a:solidFill>
                <a:latin typeface="Trebuchet MS" pitchFamily="34" charset="0"/>
                <a:ea typeface="Trebuchet MS" pitchFamily="34" charset="-122"/>
                <a:cs typeface="Trebuchet MS" pitchFamily="34" charset="-120"/>
              </a:rPr>
              <a:t>YOUR JOURNEY STARTS HERE</a:t>
            </a:r>
            <a:endParaRPr lang="en-US" sz="3800" dirty="0"/>
          </a:p>
        </p:txBody>
      </p:sp>
      <p:sp>
        <p:nvSpPr>
          <p:cNvPr id="5" name="Text 1"/>
          <p:cNvSpPr/>
          <p:nvPr/>
        </p:nvSpPr>
        <p:spPr>
          <a:xfrm>
            <a:off x="1371600" y="2331720"/>
            <a:ext cx="6400800" cy="914400"/>
          </a:xfrm>
          <a:prstGeom prst="rect">
            <a:avLst/>
          </a:prstGeom>
          <a:noFill/>
          <a:ln/>
        </p:spPr>
        <p:txBody>
          <a:bodyPr wrap="square" lIns="0" tIns="0" rIns="0" bIns="0" rtlCol="0" anchor="t"/>
          <a:lstStyle/>
          <a:p>
            <a:pPr algn="ctr" indent="0" marL="0">
              <a:lnSpc>
                <a:spcPct val="135000"/>
              </a:lnSpc>
              <a:buNone/>
            </a:pPr>
            <a:r>
              <a:rPr lang="en-US" sz="1400" dirty="0">
                <a:solidFill>
                  <a:srgbClr val="FFFFFF"/>
                </a:solidFill>
                <a:latin typeface="Calibri" pitchFamily="34" charset="0"/>
                <a:ea typeface="Calibri" pitchFamily="34" charset="-122"/>
                <a:cs typeface="Calibri" pitchFamily="34" charset="-120"/>
              </a:rPr>
              <a:t>You've walked through the quantum maze — from bits and qubits to superposition, entanglement, and real-world applications. The maze is still being built, and the most exciting paths haven't been discovered yet.</a:t>
            </a:r>
            <a:endParaRPr lang="en-US" sz="1400" dirty="0"/>
          </a:p>
        </p:txBody>
      </p:sp>
      <p:sp>
        <p:nvSpPr>
          <p:cNvPr id="6" name="Shape 2"/>
          <p:cNvSpPr/>
          <p:nvPr/>
        </p:nvSpPr>
        <p:spPr>
          <a:xfrm>
            <a:off x="731520" y="3429000"/>
            <a:ext cx="2560320" cy="1051560"/>
          </a:xfrm>
          <a:prstGeom prst="rect">
            <a:avLst/>
          </a:prstGeom>
          <a:solidFill>
            <a:srgbClr val="251A4A"/>
          </a:solidFill>
          <a:ln/>
          <a:effectLst>
            <a:outerShdw sx="100000" sy="100000" kx="0" ky="0" algn="bl" rotWithShape="0" blurRad="101600" dist="38100" dir="8100000">
              <a:srgbClr val="000000">
                <a:alpha val="25000"/>
              </a:srgbClr>
            </a:outerShdw>
          </a:effectLst>
        </p:spPr>
      </p:sp>
      <p:sp>
        <p:nvSpPr>
          <p:cNvPr id="7" name="Text 3"/>
          <p:cNvSpPr/>
          <p:nvPr/>
        </p:nvSpPr>
        <p:spPr>
          <a:xfrm>
            <a:off x="868680" y="3502152"/>
            <a:ext cx="457200" cy="320040"/>
          </a:xfrm>
          <a:prstGeom prst="rect">
            <a:avLst/>
          </a:prstGeom>
          <a:noFill/>
          <a:ln/>
        </p:spPr>
        <p:txBody>
          <a:bodyPr wrap="square" lIns="0" tIns="0" rIns="0" bIns="0" rtlCol="0" anchor="ctr"/>
          <a:lstStyle/>
          <a:p>
            <a:pPr indent="0" marL="0">
              <a:buNone/>
            </a:pPr>
            <a:r>
              <a:rPr lang="en-US" sz="1800" b="1" dirty="0">
                <a:solidFill>
                  <a:srgbClr val="00D4AA"/>
                </a:solidFill>
                <a:latin typeface="Trebuchet MS" pitchFamily="34" charset="0"/>
                <a:ea typeface="Trebuchet MS" pitchFamily="34" charset="-122"/>
                <a:cs typeface="Trebuchet MS" pitchFamily="34" charset="-120"/>
              </a:rPr>
              <a:t>01</a:t>
            </a:r>
            <a:endParaRPr lang="en-US" sz="1800" dirty="0"/>
          </a:p>
        </p:txBody>
      </p:sp>
      <p:sp>
        <p:nvSpPr>
          <p:cNvPr id="8" name="Text 4"/>
          <p:cNvSpPr/>
          <p:nvPr/>
        </p:nvSpPr>
        <p:spPr>
          <a:xfrm>
            <a:off x="868680" y="3794760"/>
            <a:ext cx="2286000" cy="594360"/>
          </a:xfrm>
          <a:prstGeom prst="rect">
            <a:avLst/>
          </a:prstGeom>
          <a:noFill/>
          <a:ln/>
        </p:spPr>
        <p:txBody>
          <a:bodyPr wrap="square" lIns="0" tIns="0" rIns="0" bIns="0" rtlCol="0" anchor="t"/>
          <a:lstStyle/>
          <a:p>
            <a:pPr algn="l" indent="0" marL="0">
              <a:lnSpc>
                <a:spcPct val="125000"/>
              </a:lnSpc>
              <a:buNone/>
            </a:pPr>
            <a:r>
              <a:rPr lang="en-US" sz="1150" dirty="0">
                <a:solidFill>
                  <a:srgbClr val="FFFFFF"/>
                </a:solidFill>
                <a:latin typeface="Calibri" pitchFamily="34" charset="0"/>
                <a:ea typeface="Calibri" pitchFamily="34" charset="-122"/>
                <a:cs typeface="Calibri" pitchFamily="34" charset="-120"/>
              </a:rPr>
              <a:t>Quantum computers use qubits that explore many paths at once.</a:t>
            </a:r>
            <a:endParaRPr lang="en-US" sz="1150" dirty="0"/>
          </a:p>
        </p:txBody>
      </p:sp>
      <p:sp>
        <p:nvSpPr>
          <p:cNvPr id="9" name="Shape 5"/>
          <p:cNvSpPr/>
          <p:nvPr/>
        </p:nvSpPr>
        <p:spPr>
          <a:xfrm>
            <a:off x="3520440" y="3429000"/>
            <a:ext cx="2560320" cy="1051560"/>
          </a:xfrm>
          <a:prstGeom prst="rect">
            <a:avLst/>
          </a:prstGeom>
          <a:solidFill>
            <a:srgbClr val="251A4A"/>
          </a:solidFill>
          <a:ln/>
          <a:effectLst>
            <a:outerShdw sx="100000" sy="100000" kx="0" ky="0" algn="bl" rotWithShape="0" blurRad="101600" dist="38100" dir="8100000">
              <a:srgbClr val="000000">
                <a:alpha val="25000"/>
              </a:srgbClr>
            </a:outerShdw>
          </a:effectLst>
        </p:spPr>
      </p:sp>
      <p:sp>
        <p:nvSpPr>
          <p:cNvPr id="10" name="Text 6"/>
          <p:cNvSpPr/>
          <p:nvPr/>
        </p:nvSpPr>
        <p:spPr>
          <a:xfrm>
            <a:off x="3657600" y="3502152"/>
            <a:ext cx="457200" cy="320040"/>
          </a:xfrm>
          <a:prstGeom prst="rect">
            <a:avLst/>
          </a:prstGeom>
          <a:noFill/>
          <a:ln/>
        </p:spPr>
        <p:txBody>
          <a:bodyPr wrap="square" lIns="0" tIns="0" rIns="0" bIns="0" rtlCol="0" anchor="ctr"/>
          <a:lstStyle/>
          <a:p>
            <a:pPr indent="0" marL="0">
              <a:buNone/>
            </a:pPr>
            <a:r>
              <a:rPr lang="en-US" sz="1800" b="1" dirty="0">
                <a:solidFill>
                  <a:srgbClr val="00D4AA"/>
                </a:solidFill>
                <a:latin typeface="Trebuchet MS" pitchFamily="34" charset="0"/>
                <a:ea typeface="Trebuchet MS" pitchFamily="34" charset="-122"/>
                <a:cs typeface="Trebuchet MS" pitchFamily="34" charset="-120"/>
              </a:rPr>
              <a:t>02</a:t>
            </a:r>
            <a:endParaRPr lang="en-US" sz="1800" dirty="0"/>
          </a:p>
        </p:txBody>
      </p:sp>
      <p:sp>
        <p:nvSpPr>
          <p:cNvPr id="11" name="Text 7"/>
          <p:cNvSpPr/>
          <p:nvPr/>
        </p:nvSpPr>
        <p:spPr>
          <a:xfrm>
            <a:off x="3657600" y="3794760"/>
            <a:ext cx="2286000" cy="594360"/>
          </a:xfrm>
          <a:prstGeom prst="rect">
            <a:avLst/>
          </a:prstGeom>
          <a:noFill/>
          <a:ln/>
        </p:spPr>
        <p:txBody>
          <a:bodyPr wrap="square" lIns="0" tIns="0" rIns="0" bIns="0" rtlCol="0" anchor="t"/>
          <a:lstStyle/>
          <a:p>
            <a:pPr algn="l" indent="0" marL="0">
              <a:lnSpc>
                <a:spcPct val="125000"/>
              </a:lnSpc>
              <a:buNone/>
            </a:pPr>
            <a:r>
              <a:rPr lang="en-US" sz="1150" dirty="0">
                <a:solidFill>
                  <a:srgbClr val="FFFFFF"/>
                </a:solidFill>
                <a:latin typeface="Calibri" pitchFamily="34" charset="0"/>
                <a:ea typeface="Calibri" pitchFamily="34" charset="-122"/>
                <a:cs typeface="Calibri" pitchFamily="34" charset="-120"/>
              </a:rPr>
              <a:t>Superposition and entanglement are the superpowers of the quantum maze.</a:t>
            </a:r>
            <a:endParaRPr lang="en-US" sz="1150" dirty="0"/>
          </a:p>
        </p:txBody>
      </p:sp>
      <p:sp>
        <p:nvSpPr>
          <p:cNvPr id="12" name="Shape 8"/>
          <p:cNvSpPr/>
          <p:nvPr/>
        </p:nvSpPr>
        <p:spPr>
          <a:xfrm>
            <a:off x="6309360" y="3429000"/>
            <a:ext cx="2560320" cy="1051560"/>
          </a:xfrm>
          <a:prstGeom prst="rect">
            <a:avLst/>
          </a:prstGeom>
          <a:solidFill>
            <a:srgbClr val="251A4A"/>
          </a:solidFill>
          <a:ln/>
          <a:effectLst>
            <a:outerShdw sx="100000" sy="100000" kx="0" ky="0" algn="bl" rotWithShape="0" blurRad="101600" dist="38100" dir="8100000">
              <a:srgbClr val="000000">
                <a:alpha val="25000"/>
              </a:srgbClr>
            </a:outerShdw>
          </a:effectLst>
        </p:spPr>
      </p:sp>
      <p:sp>
        <p:nvSpPr>
          <p:cNvPr id="13" name="Text 9"/>
          <p:cNvSpPr/>
          <p:nvPr/>
        </p:nvSpPr>
        <p:spPr>
          <a:xfrm>
            <a:off x="6446520" y="3502152"/>
            <a:ext cx="457200" cy="320040"/>
          </a:xfrm>
          <a:prstGeom prst="rect">
            <a:avLst/>
          </a:prstGeom>
          <a:noFill/>
          <a:ln/>
        </p:spPr>
        <p:txBody>
          <a:bodyPr wrap="square" lIns="0" tIns="0" rIns="0" bIns="0" rtlCol="0" anchor="ctr"/>
          <a:lstStyle/>
          <a:p>
            <a:pPr indent="0" marL="0">
              <a:buNone/>
            </a:pPr>
            <a:r>
              <a:rPr lang="en-US" sz="1800" b="1" dirty="0">
                <a:solidFill>
                  <a:srgbClr val="00D4AA"/>
                </a:solidFill>
                <a:latin typeface="Trebuchet MS" pitchFamily="34" charset="0"/>
                <a:ea typeface="Trebuchet MS" pitchFamily="34" charset="-122"/>
                <a:cs typeface="Trebuchet MS" pitchFamily="34" charset="-120"/>
              </a:rPr>
              <a:t>03</a:t>
            </a:r>
            <a:endParaRPr lang="en-US" sz="1800" dirty="0"/>
          </a:p>
        </p:txBody>
      </p:sp>
      <p:sp>
        <p:nvSpPr>
          <p:cNvPr id="14" name="Text 10"/>
          <p:cNvSpPr/>
          <p:nvPr/>
        </p:nvSpPr>
        <p:spPr>
          <a:xfrm>
            <a:off x="6446520" y="3794760"/>
            <a:ext cx="2286000" cy="594360"/>
          </a:xfrm>
          <a:prstGeom prst="rect">
            <a:avLst/>
          </a:prstGeom>
          <a:noFill/>
          <a:ln/>
        </p:spPr>
        <p:txBody>
          <a:bodyPr wrap="square" lIns="0" tIns="0" rIns="0" bIns="0" rtlCol="0" anchor="t"/>
          <a:lstStyle/>
          <a:p>
            <a:pPr algn="l" indent="0" marL="0">
              <a:lnSpc>
                <a:spcPct val="125000"/>
              </a:lnSpc>
              <a:buNone/>
            </a:pPr>
            <a:r>
              <a:rPr lang="en-US" sz="1150" dirty="0">
                <a:solidFill>
                  <a:srgbClr val="FFFFFF"/>
                </a:solidFill>
                <a:latin typeface="Calibri" pitchFamily="34" charset="0"/>
                <a:ea typeface="Calibri" pitchFamily="34" charset="-122"/>
                <a:cs typeface="Calibri" pitchFamily="34" charset="-120"/>
              </a:rPr>
              <a:t>This technology will transform medicine, security, and AI.</a:t>
            </a:r>
            <a:endParaRPr lang="en-US" sz="1150" dirty="0"/>
          </a:p>
        </p:txBody>
      </p:sp>
      <p:pic>
        <p:nvPicPr>
          <p:cNvPr id="15" name="Image 2" descr="preencoded.png">    </p:cNvPr>
          <p:cNvPicPr>
            <a:picLocks noChangeAspect="1"/>
          </p:cNvPicPr>
          <p:nvPr/>
        </p:nvPicPr>
        <p:blipFill>
          <a:blip r:embed="rId3"/>
          <a:stretch>
            <a:fillRect/>
          </a:stretch>
        </p:blipFill>
        <p:spPr>
          <a:xfrm>
            <a:off x="4114800" y="4617720"/>
            <a:ext cx="320040" cy="3200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 Computing: Navigating the Maze</dc:title>
  <dc:subject>PptxGenJS Presentation</dc:subject>
  <dc:creator>Claude</dc:creator>
  <cp:lastModifiedBy>Claude</cp:lastModifiedBy>
  <cp:revision>1</cp:revision>
  <dcterms:created xsi:type="dcterms:W3CDTF">2026-02-25T02:14:58Z</dcterms:created>
  <dcterms:modified xsi:type="dcterms:W3CDTF">2026-02-25T02:14:58Z</dcterms:modified>
</cp:coreProperties>
</file>