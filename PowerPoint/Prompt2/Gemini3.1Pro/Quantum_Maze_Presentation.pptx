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quiz"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quiz"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914400"/>
          </a:xfrm>
          <a:prstGeom prst="rect">
            <a:avLst/>
          </a:prstGeom>
          <a:noFill/>
        </p:spPr>
        <p:txBody>
          <a:bodyPr wrap="square">
            <a:spAutoFit/>
          </a:bodyPr>
          <a:lstStyle/>
          <a:p>
            <a:pPr algn="ctr">
              <a:defRPr sz="4400" b="1"/>
            </a:pPr>
            <a:r>
              <a:t>The Quantum Maze</a:t>
            </a:r>
          </a:p>
        </p:txBody>
      </p:sp>
      <p:sp>
        <p:nvSpPr>
          <p:cNvPr id="3" name="TextBox 2"/>
          <p:cNvSpPr txBox="1"/>
          <p:nvPr/>
        </p:nvSpPr>
        <p:spPr>
          <a:xfrm>
            <a:off x="914400" y="3200400"/>
            <a:ext cx="7315200" cy="914400"/>
          </a:xfrm>
          <a:prstGeom prst="rect">
            <a:avLst/>
          </a:prstGeom>
          <a:noFill/>
        </p:spPr>
        <p:txBody>
          <a:bodyPr wrap="square">
            <a:spAutoFit/>
          </a:bodyPr>
          <a:lstStyle/>
          <a:p>
            <a:pPr algn="ctr">
              <a:defRPr sz="2400" b="0"/>
            </a:pPr>
            <a:r>
              <a:t>Navigating the Future of Computing.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7315200" cy="914400"/>
          </a:xfrm>
          <a:prstGeom prst="rect">
            <a:avLst/>
          </a:prstGeom>
          <a:noFill/>
        </p:spPr>
        <p:txBody>
          <a:bodyPr wrap="square">
            <a:spAutoFit/>
          </a:bodyPr>
          <a:lstStyle/>
          <a:p>
            <a:pPr algn="ctr">
              <a:defRPr sz="3200" b="1"/>
            </a:pPr>
            <a:r>
              <a:t>The Classical Runner</a:t>
            </a:r>
          </a:p>
        </p:txBody>
      </p:sp>
      <p:sp>
        <p:nvSpPr>
          <p:cNvPr id="3" name="TextBox 2"/>
          <p:cNvSpPr txBox="1"/>
          <p:nvPr/>
        </p:nvSpPr>
        <p:spPr>
          <a:xfrm>
            <a:off x="457200" y="1828800"/>
            <a:ext cx="3840480" cy="3657600"/>
          </a:xfrm>
          <a:prstGeom prst="rect">
            <a:avLst/>
          </a:prstGeom>
          <a:noFill/>
        </p:spPr>
        <p:txBody>
          <a:bodyPr wrap="square">
            <a:spAutoFit/>
          </a:bodyPr>
          <a:lstStyle/>
          <a:p>
            <a:pPr>
              <a:defRPr sz="2000" b="0"/>
            </a:pPr>
            <a:r>
              <a:t>Imagine being dropped into a massive maze. A standard, classical computer acts exactly like a single, ordinary runner. It runs down one path, hits a dead end, turns around, walks back, and tries the next available route.</a:t>
            </a:r>
          </a:p>
        </p:txBody>
      </p:sp>
      <p:sp>
        <p:nvSpPr>
          <p:cNvPr id="4" name="TextBox 3"/>
          <p:cNvSpPr txBox="1"/>
          <p:nvPr/>
        </p:nvSpPr>
        <p:spPr>
          <a:xfrm>
            <a:off x="4846320" y="1828800"/>
            <a:ext cx="3840480" cy="3657600"/>
          </a:xfrm>
          <a:prstGeom prst="rect">
            <a:avLst/>
          </a:prstGeom>
          <a:noFill/>
        </p:spPr>
        <p:txBody>
          <a:bodyPr wrap="square">
            <a:spAutoFit/>
          </a:bodyPr>
          <a:lstStyle/>
          <a:p>
            <a:pPr>
              <a:defRPr sz="2000" b="0"/>
            </a:pPr>
            <a:r>
              <a:t>This trial-and-error method works perfectly fine for simple puzzles. However, if the maze is the size of a galaxy, even the fastest supercomputer in the world would take millions of years of running back and forth to finally find the exit.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914400"/>
          </a:xfrm>
          <a:prstGeom prst="rect">
            <a:avLst/>
          </a:prstGeom>
          <a:noFill/>
        </p:spPr>
        <p:txBody>
          <a:bodyPr wrap="square">
            <a:spAutoFit/>
          </a:bodyPr>
          <a:lstStyle/>
          <a:p>
            <a:pPr algn="ctr">
              <a:defRPr sz="3600" b="1"/>
            </a:pPr>
            <a:r>
              <a:t>Throwing Away the Rulebook</a:t>
            </a:r>
          </a:p>
        </p:txBody>
      </p:sp>
      <p:sp>
        <p:nvSpPr>
          <p:cNvPr id="3" name="TextBox 2"/>
          <p:cNvSpPr txBox="1"/>
          <p:nvPr/>
        </p:nvSpPr>
        <p:spPr>
          <a:xfrm>
            <a:off x="1371600" y="2743200"/>
            <a:ext cx="6400800" cy="2743200"/>
          </a:xfrm>
          <a:prstGeom prst="rect">
            <a:avLst/>
          </a:prstGeom>
          <a:noFill/>
        </p:spPr>
        <p:txBody>
          <a:bodyPr wrap="square">
            <a:spAutoFit/>
          </a:bodyPr>
          <a:lstStyle/>
          <a:p>
            <a:pPr algn="ctr">
              <a:defRPr sz="2400" b="0"/>
            </a:pPr>
            <a:r>
              <a:t>What if you did not have to choose just one path at a time? Quantum computing fundamentally changes the rules of the game. Instead of sending a single runner to test paths sequentially, it alters the very nature of how we interact with the puzzle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914400"/>
          </a:xfrm>
          <a:prstGeom prst="rect">
            <a:avLst/>
          </a:prstGeom>
          <a:noFill/>
        </p:spPr>
        <p:txBody>
          <a:bodyPr wrap="square">
            <a:spAutoFit/>
          </a:bodyPr>
          <a:lstStyle/>
          <a:p>
            <a:pPr algn="ctr">
              <a:defRPr sz="3600" b="1"/>
            </a:pPr>
            <a:r>
              <a:t>Knowledge Check</a:t>
            </a:r>
          </a:p>
        </p:txBody>
      </p:sp>
      <p:sp>
        <p:nvSpPr>
          <p:cNvPr id="3" name="TextBox 2"/>
          <p:cNvSpPr txBox="1"/>
          <p:nvPr/>
        </p:nvSpPr>
        <p:spPr>
          <a:xfrm>
            <a:off x="1371600" y="2286000"/>
            <a:ext cx="6400800" cy="1371600"/>
          </a:xfrm>
          <a:prstGeom prst="rect">
            <a:avLst/>
          </a:prstGeom>
          <a:noFill/>
        </p:spPr>
        <p:txBody>
          <a:bodyPr wrap="square">
            <a:spAutoFit/>
          </a:bodyPr>
          <a:lstStyle/>
          <a:p>
            <a:pPr algn="ctr">
              <a:defRPr sz="2400" b="0"/>
            </a:pPr>
            <a:r>
              <a:t>Based on our rules so far, how does a classical computer try to escape the maze?</a:t>
            </a:r>
          </a:p>
        </p:txBody>
      </p:sp>
      <p:sp>
        <p:nvSpPr>
          <p:cNvPr id="4" name="Rounded Rectangle 3"/>
          <p:cNvSpPr/>
          <p:nvPr/>
        </p:nvSpPr>
        <p:spPr>
          <a:xfrm>
            <a:off x="2286000" y="4114800"/>
            <a:ext cx="4572000" cy="914400"/>
          </a:xfrm>
          <a:prstGeom prst="roundRect">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hlinkClick r:id="rId2"/>
              </a:rPr>
              <a:t>🧠 QUIZ: Click Here to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7315200" cy="914400"/>
          </a:xfrm>
          <a:prstGeom prst="rect">
            <a:avLst/>
          </a:prstGeom>
          <a:noFill/>
        </p:spPr>
        <p:txBody>
          <a:bodyPr wrap="square">
            <a:spAutoFit/>
          </a:bodyPr>
          <a:lstStyle/>
          <a:p>
            <a:pPr algn="ctr">
              <a:defRPr sz="3200" b="1"/>
            </a:pPr>
            <a:r>
              <a:t>The Qubit Coin</a:t>
            </a:r>
          </a:p>
        </p:txBody>
      </p:sp>
      <p:sp>
        <p:nvSpPr>
          <p:cNvPr id="3" name="TextBox 2"/>
          <p:cNvSpPr txBox="1"/>
          <p:nvPr/>
        </p:nvSpPr>
        <p:spPr>
          <a:xfrm>
            <a:off x="457200" y="1828800"/>
            <a:ext cx="3840480" cy="3657600"/>
          </a:xfrm>
          <a:prstGeom prst="rect">
            <a:avLst/>
          </a:prstGeom>
          <a:noFill/>
        </p:spPr>
        <p:txBody>
          <a:bodyPr wrap="square">
            <a:spAutoFit/>
          </a:bodyPr>
          <a:lstStyle/>
          <a:p>
            <a:pPr>
              <a:defRPr sz="2000" b="0"/>
            </a:pPr>
            <a:r>
              <a:t>Normal computers use bits, which act like light switches permanently stuck on either zero or one. In our maze, a bit means you are absolutely committing to turning left, or you are absolutely committing to turning right. There is no in-between.</a:t>
            </a:r>
          </a:p>
        </p:txBody>
      </p:sp>
      <p:sp>
        <p:nvSpPr>
          <p:cNvPr id="4" name="TextBox 3"/>
          <p:cNvSpPr txBox="1"/>
          <p:nvPr/>
        </p:nvSpPr>
        <p:spPr>
          <a:xfrm>
            <a:off x="4846320" y="1828800"/>
            <a:ext cx="3840480" cy="3657600"/>
          </a:xfrm>
          <a:prstGeom prst="rect">
            <a:avLst/>
          </a:prstGeom>
          <a:noFill/>
        </p:spPr>
        <p:txBody>
          <a:bodyPr wrap="square">
            <a:spAutoFit/>
          </a:bodyPr>
          <a:lstStyle/>
          <a:p>
            <a:pPr>
              <a:defRPr sz="2000" b="0"/>
            </a:pPr>
            <a:r>
              <a:t>Quantum computers use 'qubits.' Think of a qubit like a spinning coin. While it spins in the air, it is not just heads or tails—it exists as a fluid blur of both possibilities at the exact same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7315200" cy="914400"/>
          </a:xfrm>
          <a:prstGeom prst="rect">
            <a:avLst/>
          </a:prstGeom>
          <a:noFill/>
        </p:spPr>
        <p:txBody>
          <a:bodyPr wrap="square">
            <a:spAutoFit/>
          </a:bodyPr>
          <a:lstStyle/>
          <a:p>
            <a:pPr algn="ctr">
              <a:defRPr sz="3200" b="1"/>
            </a:pPr>
            <a:r>
              <a:t>Superposition &amp; Entanglement</a:t>
            </a:r>
          </a:p>
        </p:txBody>
      </p:sp>
      <p:sp>
        <p:nvSpPr>
          <p:cNvPr id="3" name="TextBox 2"/>
          <p:cNvSpPr txBox="1"/>
          <p:nvPr/>
        </p:nvSpPr>
        <p:spPr>
          <a:xfrm>
            <a:off x="457200" y="1828800"/>
            <a:ext cx="3840480" cy="3657600"/>
          </a:xfrm>
          <a:prstGeom prst="rect">
            <a:avLst/>
          </a:prstGeom>
          <a:noFill/>
        </p:spPr>
        <p:txBody>
          <a:bodyPr wrap="square">
            <a:spAutoFit/>
          </a:bodyPr>
          <a:lstStyle/>
          <a:p>
            <a:pPr>
              <a:defRPr sz="2000" b="0"/>
            </a:pPr>
            <a:r>
              <a:t>Because qubits can be multiple things at once, our maze runner achieves Superposition. The runner turns into a fluid wave, washing through the corridors and exploring every single path in the maze simultaneously.</a:t>
            </a:r>
          </a:p>
        </p:txBody>
      </p:sp>
      <p:sp>
        <p:nvSpPr>
          <p:cNvPr id="4" name="TextBox 3"/>
          <p:cNvSpPr txBox="1"/>
          <p:nvPr/>
        </p:nvSpPr>
        <p:spPr>
          <a:xfrm>
            <a:off x="4846320" y="1828800"/>
            <a:ext cx="3840480" cy="3657600"/>
          </a:xfrm>
          <a:prstGeom prst="rect">
            <a:avLst/>
          </a:prstGeom>
          <a:noFill/>
        </p:spPr>
        <p:txBody>
          <a:bodyPr wrap="square">
            <a:spAutoFit/>
          </a:bodyPr>
          <a:lstStyle/>
          <a:p>
            <a:pPr>
              <a:defRPr sz="2000" b="0"/>
            </a:pPr>
            <a:r>
              <a:t>We also have Entanglement, which acts like telepathic teammates. If two qubits become entangled, they share information instantly. If one part of the wave hits a dead end, the other side of the maze instantly knows without communicating.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914400"/>
          </a:xfrm>
          <a:prstGeom prst="rect">
            <a:avLst/>
          </a:prstGeom>
          <a:noFill/>
        </p:spPr>
        <p:txBody>
          <a:bodyPr wrap="square">
            <a:spAutoFit/>
          </a:bodyPr>
          <a:lstStyle/>
          <a:p>
            <a:pPr algn="ctr">
              <a:defRPr sz="3600" b="1"/>
            </a:pPr>
            <a:r>
              <a:t>Quantum Interference</a:t>
            </a:r>
          </a:p>
        </p:txBody>
      </p:sp>
      <p:sp>
        <p:nvSpPr>
          <p:cNvPr id="3" name="TextBox 2"/>
          <p:cNvSpPr txBox="1"/>
          <p:nvPr/>
        </p:nvSpPr>
        <p:spPr>
          <a:xfrm>
            <a:off x="1371600" y="2743200"/>
            <a:ext cx="6400800" cy="2743200"/>
          </a:xfrm>
          <a:prstGeom prst="rect">
            <a:avLst/>
          </a:prstGeom>
          <a:noFill/>
        </p:spPr>
        <p:txBody>
          <a:bodyPr wrap="square">
            <a:spAutoFit/>
          </a:bodyPr>
          <a:lstStyle/>
          <a:p>
            <a:pPr algn="ctr">
              <a:defRPr sz="2400" b="0"/>
            </a:pPr>
            <a:r>
              <a:t>Exploring every single path at once sounds incredibly chaotic. To fix this, the system uses Quantum Interference. This acts like a filter, actively canceling out all the wrong paths and dead ends while amplifying the correct route, guiding the final answer out of the maze.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914400"/>
          </a:xfrm>
          <a:prstGeom prst="rect">
            <a:avLst/>
          </a:prstGeom>
          <a:noFill/>
        </p:spPr>
        <p:txBody>
          <a:bodyPr wrap="square">
            <a:spAutoFit/>
          </a:bodyPr>
          <a:lstStyle/>
          <a:p>
            <a:pPr algn="ctr">
              <a:defRPr sz="3600" b="1"/>
            </a:pPr>
            <a:r>
              <a:t>Knowledge Check</a:t>
            </a:r>
          </a:p>
        </p:txBody>
      </p:sp>
      <p:sp>
        <p:nvSpPr>
          <p:cNvPr id="3" name="TextBox 2"/>
          <p:cNvSpPr txBox="1"/>
          <p:nvPr/>
        </p:nvSpPr>
        <p:spPr>
          <a:xfrm>
            <a:off x="1371600" y="2286000"/>
            <a:ext cx="6400800" cy="1371600"/>
          </a:xfrm>
          <a:prstGeom prst="rect">
            <a:avLst/>
          </a:prstGeom>
          <a:noFill/>
        </p:spPr>
        <p:txBody>
          <a:bodyPr wrap="square">
            <a:spAutoFit/>
          </a:bodyPr>
          <a:lstStyle/>
          <a:p>
            <a:pPr algn="ctr">
              <a:defRPr sz="2400" b="0"/>
            </a:pPr>
            <a:r>
              <a:t>What is the term for our runner turning into a wave and exploring all paths simultaneously?</a:t>
            </a:r>
          </a:p>
        </p:txBody>
      </p:sp>
      <p:sp>
        <p:nvSpPr>
          <p:cNvPr id="4" name="Rounded Rectangle 3"/>
          <p:cNvSpPr/>
          <p:nvPr/>
        </p:nvSpPr>
        <p:spPr>
          <a:xfrm>
            <a:off x="2286000" y="4114800"/>
            <a:ext cx="4572000" cy="914400"/>
          </a:xfrm>
          <a:prstGeom prst="roundRect">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hlinkClick r:id="rId2"/>
              </a:rPr>
              <a:t>🧠 QUIZ: Click Here to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7315200" cy="914400"/>
          </a:xfrm>
          <a:prstGeom prst="rect">
            <a:avLst/>
          </a:prstGeom>
          <a:noFill/>
        </p:spPr>
        <p:txBody>
          <a:bodyPr wrap="square">
            <a:spAutoFit/>
          </a:bodyPr>
          <a:lstStyle/>
          <a:p>
            <a:pPr algn="ctr">
              <a:defRPr sz="3200" b="1"/>
            </a:pPr>
            <a:r>
              <a:t>The Real-World Mazes</a:t>
            </a:r>
          </a:p>
        </p:txBody>
      </p:sp>
      <p:sp>
        <p:nvSpPr>
          <p:cNvPr id="3" name="TextBox 2"/>
          <p:cNvSpPr txBox="1"/>
          <p:nvPr/>
        </p:nvSpPr>
        <p:spPr>
          <a:xfrm>
            <a:off x="457200" y="1828800"/>
            <a:ext cx="3840480" cy="3657600"/>
          </a:xfrm>
          <a:prstGeom prst="rect">
            <a:avLst/>
          </a:prstGeom>
          <a:noFill/>
        </p:spPr>
        <p:txBody>
          <a:bodyPr wrap="square">
            <a:spAutoFit/>
          </a:bodyPr>
          <a:lstStyle/>
          <a:p>
            <a:pPr>
              <a:defRPr sz="2000" b="0"/>
            </a:pPr>
            <a:r>
              <a:t>Quantum computers will not replace your gaming laptop. They are built specifically for impossibly complex mazes, like simulating how millions of molecules interact to design new life-saving medicines in days instead of decades.</a:t>
            </a:r>
          </a:p>
        </p:txBody>
      </p:sp>
      <p:sp>
        <p:nvSpPr>
          <p:cNvPr id="4" name="TextBox 3"/>
          <p:cNvSpPr txBox="1"/>
          <p:nvPr/>
        </p:nvSpPr>
        <p:spPr>
          <a:xfrm>
            <a:off x="4846320" y="1828800"/>
            <a:ext cx="3840480" cy="3657600"/>
          </a:xfrm>
          <a:prstGeom prst="rect">
            <a:avLst/>
          </a:prstGeom>
          <a:noFill/>
        </p:spPr>
        <p:txBody>
          <a:bodyPr wrap="square">
            <a:spAutoFit/>
          </a:bodyPr>
          <a:lstStyle/>
          <a:p>
            <a:pPr>
              <a:defRPr sz="2000" b="0"/>
            </a:pPr>
            <a:r>
              <a:t>They will also revolutionize global cybersecurity. The cryptographic codes protecting our digital lives today are essentially just giant mathematical mazes. A powerful enough quantum computer could navigate those mazes and crack the codes in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914400"/>
          </a:xfrm>
          <a:prstGeom prst="rect">
            <a:avLst/>
          </a:prstGeom>
          <a:noFill/>
        </p:spPr>
        <p:txBody>
          <a:bodyPr wrap="square">
            <a:spAutoFit/>
          </a:bodyPr>
          <a:lstStyle/>
          <a:p>
            <a:pPr algn="ctr">
              <a:defRPr sz="3600" b="1"/>
            </a:pPr>
            <a:r>
              <a:t>Escaping the Maze</a:t>
            </a:r>
          </a:p>
        </p:txBody>
      </p:sp>
      <p:sp>
        <p:nvSpPr>
          <p:cNvPr id="3" name="TextBox 2"/>
          <p:cNvSpPr txBox="1"/>
          <p:nvPr/>
        </p:nvSpPr>
        <p:spPr>
          <a:xfrm>
            <a:off x="1371600" y="2743200"/>
            <a:ext cx="6400800" cy="2743200"/>
          </a:xfrm>
          <a:prstGeom prst="rect">
            <a:avLst/>
          </a:prstGeom>
          <a:noFill/>
        </p:spPr>
        <p:txBody>
          <a:bodyPr wrap="square">
            <a:spAutoFit/>
          </a:bodyPr>
          <a:lstStyle/>
          <a:p>
            <a:pPr algn="ctr">
              <a:defRPr sz="2400" b="0"/>
            </a:pPr>
            <a:r>
              <a:t>We are just taking our very first steps into the quantum realm. The computers being built today are early, fragile prototypes, but the runners are gearing up. The impossible mazes of tomorrow are waiting to be solved.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