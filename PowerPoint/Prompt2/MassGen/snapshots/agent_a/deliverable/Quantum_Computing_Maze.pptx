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457200"/>
            <a:ext cx="6400800" cy="3840480"/>
          </a:xfrm>
          <a:prstGeom prst="rect">
            <a:avLst/>
          </a:prstGeom>
          <a:solidFill>
            <a:srgbClr val="1B2838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1371600" y="457200"/>
            <a:ext cx="6400800" cy="54864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" name="Shape 2"/>
          <p:cNvSpPr/>
          <p:nvPr/>
        </p:nvSpPr>
        <p:spPr>
          <a:xfrm>
            <a:off x="1371600" y="4242816"/>
            <a:ext cx="2560320" cy="54864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" name="Shape 3"/>
          <p:cNvSpPr/>
          <p:nvPr/>
        </p:nvSpPr>
        <p:spPr>
          <a:xfrm>
            <a:off x="4754880" y="4242816"/>
            <a:ext cx="3017520" cy="54864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6" name="Shape 4"/>
          <p:cNvSpPr/>
          <p:nvPr/>
        </p:nvSpPr>
        <p:spPr>
          <a:xfrm>
            <a:off x="1371600" y="457200"/>
            <a:ext cx="54864" cy="38404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7" name="Shape 5"/>
          <p:cNvSpPr/>
          <p:nvPr/>
        </p:nvSpPr>
        <p:spPr>
          <a:xfrm>
            <a:off x="7717536" y="457200"/>
            <a:ext cx="54864" cy="13716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8" name="Shape 6"/>
          <p:cNvSpPr/>
          <p:nvPr/>
        </p:nvSpPr>
        <p:spPr>
          <a:xfrm>
            <a:off x="7717536" y="2560320"/>
            <a:ext cx="54864" cy="17373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9" name="Shape 7"/>
          <p:cNvSpPr/>
          <p:nvPr/>
        </p:nvSpPr>
        <p:spPr>
          <a:xfrm>
            <a:off x="1645920" y="822960"/>
            <a:ext cx="54864" cy="914400"/>
          </a:xfrm>
          <a:prstGeom prst="rect">
            <a:avLst/>
          </a:prstGeom>
          <a:solidFill>
            <a:srgbClr val="0D9488">
              <a:alpha val="5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645920" y="822960"/>
            <a:ext cx="548640" cy="54864"/>
          </a:xfrm>
          <a:prstGeom prst="rect">
            <a:avLst/>
          </a:prstGeom>
          <a:solidFill>
            <a:srgbClr val="0D9488">
              <a:alpha val="5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7315200" y="2926080"/>
            <a:ext cx="54864" cy="914400"/>
          </a:xfrm>
          <a:prstGeom prst="rect">
            <a:avLst/>
          </a:prstGeom>
          <a:solidFill>
            <a:srgbClr val="0D9488">
              <a:alpha val="5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6858000" y="2926080"/>
            <a:ext cx="512064" cy="54864"/>
          </a:xfrm>
          <a:prstGeom prst="rect">
            <a:avLst/>
          </a:prstGeom>
          <a:solidFill>
            <a:srgbClr val="0D9488">
              <a:alpha val="5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828800" y="3474720"/>
            <a:ext cx="914400" cy="54864"/>
          </a:xfrm>
          <a:prstGeom prst="rect">
            <a:avLst/>
          </a:prstGeom>
          <a:solidFill>
            <a:srgbClr val="0D9488">
              <a:alpha val="5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828800" y="3474720"/>
            <a:ext cx="54864" cy="457200"/>
          </a:xfrm>
          <a:prstGeom prst="rect">
            <a:avLst/>
          </a:prstGeom>
          <a:solidFill>
            <a:srgbClr val="0D9488">
              <a:alpha val="5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6583680" y="731520"/>
            <a:ext cx="54864" cy="731520"/>
          </a:xfrm>
          <a:prstGeom prst="rect">
            <a:avLst/>
          </a:prstGeom>
          <a:solidFill>
            <a:srgbClr val="0D9488">
              <a:alpha val="5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6583680" y="731520"/>
            <a:ext cx="731520" cy="54864"/>
          </a:xfrm>
          <a:prstGeom prst="rect">
            <a:avLst/>
          </a:prstGeom>
          <a:solidFill>
            <a:srgbClr val="0D9488">
              <a:alpha val="5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7589520" y="1783080"/>
            <a:ext cx="274320" cy="274320"/>
          </a:xfrm>
          <a:prstGeom prst="ellipse">
            <a:avLst/>
          </a:prstGeom>
          <a:solidFill>
            <a:srgbClr val="2DD4BF">
              <a:alpha val="7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7653528" y="1847088"/>
            <a:ext cx="146304" cy="146304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9" name="Text 17"/>
          <p:cNvSpPr/>
          <p:nvPr/>
        </p:nvSpPr>
        <p:spPr>
          <a:xfrm>
            <a:off x="2286000" y="10058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BD5E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Navigating the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2286000" y="150876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DD4B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QUANTUM MAZE</a:t>
            </a:r>
            <a:endParaRPr lang="en-US" sz="4400" dirty="0"/>
          </a:p>
        </p:txBody>
      </p:sp>
      <p:sp>
        <p:nvSpPr>
          <p:cNvPr id="21" name="Text 19"/>
          <p:cNvSpPr/>
          <p:nvPr/>
        </p:nvSpPr>
        <p:spPr>
          <a:xfrm>
            <a:off x="2286000" y="265176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High School Guide to the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Strangest Computer Science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14400" y="44348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Every slide is a new corridor. Let's explore →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/ 10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" cy="7315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486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" name="Shape 2"/>
          <p:cNvSpPr/>
          <p:nvPr/>
        </p:nvSpPr>
        <p:spPr>
          <a:xfrm>
            <a:off x="228600" y="228600"/>
            <a:ext cx="320040" cy="54864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228600"/>
            <a:ext cx="54864" cy="32004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6" name="Shape 4"/>
          <p:cNvSpPr/>
          <p:nvPr/>
        </p:nvSpPr>
        <p:spPr>
          <a:xfrm>
            <a:off x="8595360" y="5070348"/>
            <a:ext cx="548640" cy="7315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7" name="Shape 5"/>
          <p:cNvSpPr/>
          <p:nvPr/>
        </p:nvSpPr>
        <p:spPr>
          <a:xfrm>
            <a:off x="9070848" y="4594860"/>
            <a:ext cx="73152" cy="5486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8" name="Shape 6"/>
          <p:cNvSpPr/>
          <p:nvPr/>
        </p:nvSpPr>
        <p:spPr>
          <a:xfrm>
            <a:off x="8595360" y="4864608"/>
            <a:ext cx="320040" cy="54864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9" name="Shape 7"/>
          <p:cNvSpPr/>
          <p:nvPr/>
        </p:nvSpPr>
        <p:spPr>
          <a:xfrm>
            <a:off x="8860536" y="4594860"/>
            <a:ext cx="54864" cy="32004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0"/>
            <a:ext cx="9144000" cy="1463040"/>
          </a:xfrm>
          <a:prstGeom prst="rect">
            <a:avLst/>
          </a:prstGeom>
          <a:solidFill>
            <a:srgbClr val="1B2838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D4B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FIRST CORRIDOR: CLASSICAL COMPUTERS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entering the quantum maze, we need to understand the straight hallways we already know.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1737360"/>
            <a:ext cx="3840480" cy="2834640"/>
          </a:xfrm>
          <a:prstGeom prst="rect">
            <a:avLst/>
          </a:prstGeom>
          <a:solidFill>
            <a:srgbClr val="1B2838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1737360"/>
            <a:ext cx="384048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18745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CLASSICAL BIT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080" y="2331720"/>
            <a:ext cx="3474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classical computer thinks in bits — tiny switches that are either ON (1) or OFF (0). Every app, game, and website you use runs on billions of these simple yes-or-no decisions happening incredibly fast.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846320" y="1737360"/>
            <a:ext cx="3840480" cy="2834640"/>
          </a:xfrm>
          <a:prstGeom prst="rect">
            <a:avLst/>
          </a:prstGeom>
          <a:solidFill>
            <a:srgbClr val="1B2838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46320" y="1737360"/>
            <a:ext cx="3840480" cy="54864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0" y="18745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BBF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MAZE ANALOGY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029200" y="2331720"/>
            <a:ext cx="3474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Imagine a maze where you can only walk one path at a time. You reach a fork: go left or right — pick one. A classical computer solves mazes this way, trying each route one by one until it finds the exit.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109728" cy="36576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310896"/>
            <a:ext cx="137160" cy="27432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097280"/>
            <a:ext cx="109728" cy="54864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" name="Shape 3"/>
          <p:cNvSpPr/>
          <p:nvPr/>
        </p:nvSpPr>
        <p:spPr>
          <a:xfrm>
            <a:off x="109728" y="1133856"/>
            <a:ext cx="137160" cy="27432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1920240"/>
            <a:ext cx="109728" cy="7315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7" name="Shape 5"/>
          <p:cNvSpPr/>
          <p:nvPr/>
        </p:nvSpPr>
        <p:spPr>
          <a:xfrm>
            <a:off x="109728" y="1956816"/>
            <a:ext cx="137160" cy="27432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8" name="Shape 6"/>
          <p:cNvSpPr/>
          <p:nvPr/>
        </p:nvSpPr>
        <p:spPr>
          <a:xfrm>
            <a:off x="0" y="2743200"/>
            <a:ext cx="109728" cy="36576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9" name="Shape 7"/>
          <p:cNvSpPr/>
          <p:nvPr/>
        </p:nvSpPr>
        <p:spPr>
          <a:xfrm>
            <a:off x="109728" y="2779776"/>
            <a:ext cx="137160" cy="27432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3566160"/>
            <a:ext cx="109728" cy="54864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1" name="Shape 9"/>
          <p:cNvSpPr/>
          <p:nvPr/>
        </p:nvSpPr>
        <p:spPr>
          <a:xfrm>
            <a:off x="109728" y="3602736"/>
            <a:ext cx="137160" cy="27432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4389120"/>
            <a:ext cx="109728" cy="7315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3" name="Shape 11"/>
          <p:cNvSpPr/>
          <p:nvPr/>
        </p:nvSpPr>
        <p:spPr>
          <a:xfrm>
            <a:off x="109728" y="4425696"/>
            <a:ext cx="137160" cy="27432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D4B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MAKES QUANTUM DIFFERENT?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maze just got a whole lot stranger.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1508760"/>
            <a:ext cx="2606040" cy="3200400"/>
          </a:xfrm>
          <a:prstGeom prst="rect">
            <a:avLst/>
          </a:prstGeom>
          <a:solidFill>
            <a:srgbClr val="1B2838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1508760"/>
            <a:ext cx="260604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16459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QUBITS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94360" y="20574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Quantum Walker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94360" y="2468880"/>
            <a:ext cx="2331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a classical bit (0 or 1), a qubit can exist in a blend of both states simultaneously — like a maze-walker who hasn't decided which fork to take yet.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337560" y="1508760"/>
            <a:ext cx="2606040" cy="3200400"/>
          </a:xfrm>
          <a:prstGeom prst="rect">
            <a:avLst/>
          </a:prstGeom>
          <a:solidFill>
            <a:srgbClr val="1B2838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337560" y="1508760"/>
            <a:ext cx="2606040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3" name="Text 21"/>
          <p:cNvSpPr/>
          <p:nvPr/>
        </p:nvSpPr>
        <p:spPr>
          <a:xfrm>
            <a:off x="3474720" y="16459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QUANTUM GATES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3474720" y="20574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Maze Architect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474720" y="2468880"/>
            <a:ext cx="2331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gates are operations that reshape the maze itself — rotating, flipping, and combining paths in ways that classical logic gates cannot. They redesign reality.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217920" y="1508760"/>
            <a:ext cx="2606040" cy="3200400"/>
          </a:xfrm>
          <a:prstGeom prst="rect">
            <a:avLst/>
          </a:prstGeom>
          <a:solidFill>
            <a:srgbClr val="1B2838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217920" y="1508760"/>
            <a:ext cx="2606040" cy="54864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28" name="Text 26"/>
          <p:cNvSpPr/>
          <p:nvPr/>
        </p:nvSpPr>
        <p:spPr>
          <a:xfrm>
            <a:off x="6355080" y="16459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BBF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MEASUREMENT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355080" y="20574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Collapse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355080" y="2468880"/>
            <a:ext cx="2331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observe a qubit, it 'chooses' a path. Like shining a flashlight in the maze — the walker is found in one corridor, and all other ghostly paths vanish instantly.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34272" y="182880"/>
            <a:ext cx="109728" cy="54864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8897112" y="201168"/>
            <a:ext cx="137160" cy="27432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4" name="Shape 2"/>
          <p:cNvSpPr/>
          <p:nvPr/>
        </p:nvSpPr>
        <p:spPr>
          <a:xfrm>
            <a:off x="9034272" y="960120"/>
            <a:ext cx="109728" cy="54864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" name="Shape 3"/>
          <p:cNvSpPr/>
          <p:nvPr/>
        </p:nvSpPr>
        <p:spPr>
          <a:xfrm>
            <a:off x="8897112" y="978408"/>
            <a:ext cx="137160" cy="27432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6" name="Shape 4"/>
          <p:cNvSpPr/>
          <p:nvPr/>
        </p:nvSpPr>
        <p:spPr>
          <a:xfrm>
            <a:off x="9034272" y="1737360"/>
            <a:ext cx="109728" cy="54864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7" name="Shape 5"/>
          <p:cNvSpPr/>
          <p:nvPr/>
        </p:nvSpPr>
        <p:spPr>
          <a:xfrm>
            <a:off x="8897112" y="1755648"/>
            <a:ext cx="137160" cy="27432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8" name="Shape 6"/>
          <p:cNvSpPr/>
          <p:nvPr/>
        </p:nvSpPr>
        <p:spPr>
          <a:xfrm>
            <a:off x="9034272" y="2514600"/>
            <a:ext cx="109728" cy="54864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9" name="Shape 7"/>
          <p:cNvSpPr/>
          <p:nvPr/>
        </p:nvSpPr>
        <p:spPr>
          <a:xfrm>
            <a:off x="8897112" y="2532888"/>
            <a:ext cx="137160" cy="27432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0" name="Shape 8"/>
          <p:cNvSpPr/>
          <p:nvPr/>
        </p:nvSpPr>
        <p:spPr>
          <a:xfrm>
            <a:off x="9034272" y="3291840"/>
            <a:ext cx="109728" cy="54864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1" name="Shape 9"/>
          <p:cNvSpPr/>
          <p:nvPr/>
        </p:nvSpPr>
        <p:spPr>
          <a:xfrm>
            <a:off x="8897112" y="3310128"/>
            <a:ext cx="137160" cy="27432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2" name="Shape 10"/>
          <p:cNvSpPr/>
          <p:nvPr/>
        </p:nvSpPr>
        <p:spPr>
          <a:xfrm>
            <a:off x="9034272" y="4069080"/>
            <a:ext cx="109728" cy="54864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3" name="Shape 11"/>
          <p:cNvSpPr/>
          <p:nvPr/>
        </p:nvSpPr>
        <p:spPr>
          <a:xfrm>
            <a:off x="8897112" y="4087368"/>
            <a:ext cx="137160" cy="27432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4" name="Shape 12"/>
          <p:cNvSpPr/>
          <p:nvPr/>
        </p:nvSpPr>
        <p:spPr>
          <a:xfrm>
            <a:off x="365760" y="274320"/>
            <a:ext cx="5943600" cy="4114800"/>
          </a:xfrm>
          <a:prstGeom prst="rect">
            <a:avLst/>
          </a:prstGeom>
          <a:solidFill>
            <a:srgbClr val="1B2838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74320"/>
            <a:ext cx="73152" cy="411480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1148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DD4B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SUPERPOSITION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640080" y="10058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Walker Who Takes Every Path at Once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" y="1463040"/>
            <a:ext cx="53949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classical maze, you pick one corridor and hope for the best. But a quantum walker in superposition doesn't choose — it explores EVERY possible path simultaneously.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Picture yourself as a ghost who splits into copies at every fork, flowing through the entire maze at once. Each copy carries a probability of being the 'real' you.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someone finally looks (measures), all copies collapse into a single location. This is the secret power of quantum computing: instead of checking one answer at a time, a quantum computer checks many in parallel.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675120" y="274320"/>
            <a:ext cx="2103120" cy="3200400"/>
          </a:xfrm>
          <a:prstGeom prst="rect">
            <a:avLst/>
          </a:prstGeom>
          <a:solidFill>
            <a:srgbClr val="1B2838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766560" y="3657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MAZE FORK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635240" y="822960"/>
            <a:ext cx="54864" cy="64008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22" name="Shape 20"/>
          <p:cNvSpPr/>
          <p:nvPr/>
        </p:nvSpPr>
        <p:spPr>
          <a:xfrm>
            <a:off x="7040880" y="1417320"/>
            <a:ext cx="1243584" cy="54864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23" name="Shape 21"/>
          <p:cNvSpPr/>
          <p:nvPr/>
        </p:nvSpPr>
        <p:spPr>
          <a:xfrm>
            <a:off x="7040880" y="1417320"/>
            <a:ext cx="54864" cy="7315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4" name="Shape 22"/>
          <p:cNvSpPr/>
          <p:nvPr/>
        </p:nvSpPr>
        <p:spPr>
          <a:xfrm>
            <a:off x="8229600" y="1417320"/>
            <a:ext cx="54864" cy="7315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5" name="Text 23"/>
          <p:cNvSpPr/>
          <p:nvPr/>
        </p:nvSpPr>
        <p:spPr>
          <a:xfrm>
            <a:off x="6720840" y="2240280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Classical: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Pick ONE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863840" y="2240280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Quantum: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Take BOTH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150608" y="2880360"/>
            <a:ext cx="164592" cy="164592"/>
          </a:xfrm>
          <a:prstGeom prst="ellipse">
            <a:avLst/>
          </a:prstGeom>
          <a:solidFill>
            <a:srgbClr val="38BDF8">
              <a:alpha val="5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8284464" y="2880360"/>
            <a:ext cx="164592" cy="164592"/>
          </a:xfrm>
          <a:prstGeom prst="ellipse">
            <a:avLst/>
          </a:prstGeom>
          <a:solidFill>
            <a:srgbClr val="2DD4BF">
              <a:alpha val="7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8339328" y="2880360"/>
            <a:ext cx="164592" cy="164592"/>
          </a:xfrm>
          <a:prstGeom prst="ellipse">
            <a:avLst/>
          </a:prstGeom>
          <a:solidFill>
            <a:srgbClr val="2DD4BF">
              <a:alpha val="4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6629400" y="3749040"/>
            <a:ext cx="2331720" cy="777240"/>
          </a:xfrm>
          <a:prstGeom prst="roundRect">
            <a:avLst>
              <a:gd name="adj" fmla="val 17647"/>
            </a:avLst>
          </a:prstGeom>
          <a:solidFill>
            <a:srgbClr val="FBBF24">
              <a:alpha val="6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6720840" y="3822192"/>
            <a:ext cx="2148840" cy="640080"/>
          </a:xfrm>
          <a:prstGeom prst="roundRect">
            <a:avLst>
              <a:gd name="adj" fmla="val 17143"/>
            </a:avLst>
          </a:prstGeom>
          <a:solidFill>
            <a:srgbClr val="FBBF24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2" name="Text 30">
            <a:hlinkClick r:id="rIdundefined" tooltip="Test your quantum knowledge!"/>
          </p:cNvPr>
          <p:cNvSpPr/>
          <p:nvPr/>
        </p:nvSpPr>
        <p:spPr>
          <a:xfrm>
            <a:off x="6720840" y="3822192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  <a:hlinkClick r:id="rIdundefined" invalidUrl="" action="" tgtFrame="" tooltip="Test your quantum knowledge!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🧩 TAKE THE QUIZ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" cy="7315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486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" name="Shape 2"/>
          <p:cNvSpPr/>
          <p:nvPr/>
        </p:nvSpPr>
        <p:spPr>
          <a:xfrm>
            <a:off x="228600" y="228600"/>
            <a:ext cx="320040" cy="54864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228600"/>
            <a:ext cx="54864" cy="32004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6" name="Shape 4"/>
          <p:cNvSpPr/>
          <p:nvPr/>
        </p:nvSpPr>
        <p:spPr>
          <a:xfrm>
            <a:off x="8595360" y="5070348"/>
            <a:ext cx="548640" cy="7315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7" name="Shape 5"/>
          <p:cNvSpPr/>
          <p:nvPr/>
        </p:nvSpPr>
        <p:spPr>
          <a:xfrm>
            <a:off x="9070848" y="4594860"/>
            <a:ext cx="73152" cy="5486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8" name="Shape 6"/>
          <p:cNvSpPr/>
          <p:nvPr/>
        </p:nvSpPr>
        <p:spPr>
          <a:xfrm>
            <a:off x="8595360" y="4864608"/>
            <a:ext cx="320040" cy="54864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9" name="Shape 7"/>
          <p:cNvSpPr/>
          <p:nvPr/>
        </p:nvSpPr>
        <p:spPr>
          <a:xfrm>
            <a:off x="8860536" y="4594860"/>
            <a:ext cx="54864" cy="32004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B2838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8BD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INTERFERENCE: WHERE PATHS COLLIDE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57200" y="731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maze helps you by erasing wrong answers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1463040"/>
            <a:ext cx="4114800" cy="3200400"/>
          </a:xfrm>
          <a:prstGeom prst="rect">
            <a:avLst/>
          </a:prstGeom>
          <a:solidFill>
            <a:srgbClr val="1B2838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0080" y="1600200"/>
            <a:ext cx="37490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ripples in water. When two waves meet, they can amplify each other (constructive interference) or cancel each other out (destructive interference).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quantum maze, your ghost-copies carry wave-like amplitudes. Correct paths reinforce each other, growing stronger. Wrong paths interfere destructively, fading to nothing.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algorithms are carefully designed so the right answer's paths add up while wrong answers cancel themselves out — like a maze that actively erases its own dead ends.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846320" y="1463040"/>
            <a:ext cx="3840480" cy="3200400"/>
          </a:xfrm>
          <a:prstGeom prst="rect">
            <a:avLst/>
          </a:prstGeom>
          <a:solidFill>
            <a:srgbClr val="1B2838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029200" y="16002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CONSTRUCTIVE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303520" y="2011680"/>
            <a:ext cx="1371600" cy="73152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8" name="Shape 16"/>
          <p:cNvSpPr/>
          <p:nvPr/>
        </p:nvSpPr>
        <p:spPr>
          <a:xfrm>
            <a:off x="5303520" y="2286000"/>
            <a:ext cx="1371600" cy="73152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9" name="Shape 17"/>
          <p:cNvSpPr/>
          <p:nvPr/>
        </p:nvSpPr>
        <p:spPr>
          <a:xfrm>
            <a:off x="6675120" y="1965960"/>
            <a:ext cx="1371600" cy="18288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20" name="Text 18"/>
          <p:cNvSpPr/>
          <p:nvPr/>
        </p:nvSpPr>
        <p:spPr>
          <a:xfrm>
            <a:off x="6675120" y="2194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D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STRONGER PATH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029200" y="27432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DESTRUCTIVE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303520" y="3200400"/>
            <a:ext cx="1371600" cy="7315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3" name="Shape 21"/>
          <p:cNvSpPr/>
          <p:nvPr/>
        </p:nvSpPr>
        <p:spPr>
          <a:xfrm>
            <a:off x="5303520" y="3474720"/>
            <a:ext cx="1371600" cy="7315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4" name="Text 22"/>
          <p:cNvSpPr/>
          <p:nvPr/>
        </p:nvSpPr>
        <p:spPr>
          <a:xfrm>
            <a:off x="6675120" y="3246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PATH VANISHES ✗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029200" y="40233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quantum maze deletes its own dead ends.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54864" cy="3657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731520"/>
            <a:ext cx="54864" cy="2743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4572000"/>
            <a:ext cx="54864" cy="5486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7" name="Shape 5"/>
          <p:cNvSpPr/>
          <p:nvPr/>
        </p:nvSpPr>
        <p:spPr>
          <a:xfrm>
            <a:off x="9089136" y="0"/>
            <a:ext cx="54864" cy="3657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8" name="Shape 6"/>
          <p:cNvSpPr/>
          <p:nvPr/>
        </p:nvSpPr>
        <p:spPr>
          <a:xfrm>
            <a:off x="9089136" y="731520"/>
            <a:ext cx="54864" cy="2743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9" name="Shape 7"/>
          <p:cNvSpPr/>
          <p:nvPr/>
        </p:nvSpPr>
        <p:spPr>
          <a:xfrm>
            <a:off x="9089136" y="4572000"/>
            <a:ext cx="54864" cy="5486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BBF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ENTANGLEMENT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corridors, one destiny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1508760"/>
            <a:ext cx="8229600" cy="1234440"/>
          </a:xfrm>
          <a:prstGeom prst="rect">
            <a:avLst/>
          </a:prstGeom>
          <a:solidFill>
            <a:srgbClr val="1B2838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" y="1600200"/>
            <a:ext cx="7863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qubits become entangled when their fates are linked — measuring one INSTANTLY reveals the state of the other, no matter how far apart they are. Einstein called it "spooky action at a distance." In maze terms: two walkers in separate corridors are mysteriously synchronized.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57200" y="3017520"/>
            <a:ext cx="3474720" cy="1737360"/>
          </a:xfrm>
          <a:prstGeom prst="rect">
            <a:avLst/>
          </a:prstGeom>
          <a:solidFill>
            <a:srgbClr val="1B2838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017520"/>
            <a:ext cx="3474720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12724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QUBIT A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0080" y="352044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walker enters the LEFT corridor.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measurement: could be at any junction.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is uncertain — 0, 1, or both at once.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114800" y="3703320"/>
            <a:ext cx="914400" cy="9144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9" name="Shape 17"/>
          <p:cNvSpPr/>
          <p:nvPr/>
        </p:nvSpPr>
        <p:spPr>
          <a:xfrm>
            <a:off x="4389120" y="3520440"/>
            <a:ext cx="365760" cy="365760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20" name="Text 18"/>
          <p:cNvSpPr/>
          <p:nvPr/>
        </p:nvSpPr>
        <p:spPr>
          <a:xfrm>
            <a:off x="4389120" y="3520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⚡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069080" y="38862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LINKED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212080" y="3017520"/>
            <a:ext cx="3474720" cy="1737360"/>
          </a:xfrm>
          <a:prstGeom prst="rect">
            <a:avLst/>
          </a:prstGeom>
          <a:solidFill>
            <a:srgbClr val="1B2838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212080" y="3017520"/>
            <a:ext cx="3474720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4" name="Text 22"/>
          <p:cNvSpPr/>
          <p:nvPr/>
        </p:nvSpPr>
        <p:spPr>
          <a:xfrm>
            <a:off x="5394960" y="312724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QUBIT B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394960" y="352044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walker enters the RIGHT corridor.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moment Qubit A is found, Qubit B is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INSTANTLY found at its linked position.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983480"/>
            <a:ext cx="54864" cy="16459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475488" y="4892040"/>
            <a:ext cx="27432" cy="109728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4" name="Shape 2"/>
          <p:cNvSpPr/>
          <p:nvPr/>
        </p:nvSpPr>
        <p:spPr>
          <a:xfrm>
            <a:off x="1508760" y="4983480"/>
            <a:ext cx="54864" cy="16459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" name="Shape 3"/>
          <p:cNvSpPr/>
          <p:nvPr/>
        </p:nvSpPr>
        <p:spPr>
          <a:xfrm>
            <a:off x="1527048" y="4892040"/>
            <a:ext cx="27432" cy="109728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6" name="Shape 4"/>
          <p:cNvSpPr/>
          <p:nvPr/>
        </p:nvSpPr>
        <p:spPr>
          <a:xfrm>
            <a:off x="2560320" y="4983480"/>
            <a:ext cx="54864" cy="16459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7" name="Shape 5"/>
          <p:cNvSpPr/>
          <p:nvPr/>
        </p:nvSpPr>
        <p:spPr>
          <a:xfrm>
            <a:off x="2578608" y="4892040"/>
            <a:ext cx="27432" cy="109728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8" name="Shape 6"/>
          <p:cNvSpPr/>
          <p:nvPr/>
        </p:nvSpPr>
        <p:spPr>
          <a:xfrm>
            <a:off x="3611880" y="4983480"/>
            <a:ext cx="54864" cy="16459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9" name="Shape 7"/>
          <p:cNvSpPr/>
          <p:nvPr/>
        </p:nvSpPr>
        <p:spPr>
          <a:xfrm>
            <a:off x="3630168" y="4892040"/>
            <a:ext cx="27432" cy="109728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0" name="Shape 8"/>
          <p:cNvSpPr/>
          <p:nvPr/>
        </p:nvSpPr>
        <p:spPr>
          <a:xfrm>
            <a:off x="4663440" y="4983480"/>
            <a:ext cx="54864" cy="16459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1" name="Shape 9"/>
          <p:cNvSpPr/>
          <p:nvPr/>
        </p:nvSpPr>
        <p:spPr>
          <a:xfrm>
            <a:off x="4681728" y="4892040"/>
            <a:ext cx="27432" cy="109728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2" name="Shape 10"/>
          <p:cNvSpPr/>
          <p:nvPr/>
        </p:nvSpPr>
        <p:spPr>
          <a:xfrm>
            <a:off x="5715000" y="4983480"/>
            <a:ext cx="54864" cy="16459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3" name="Shape 11"/>
          <p:cNvSpPr/>
          <p:nvPr/>
        </p:nvSpPr>
        <p:spPr>
          <a:xfrm>
            <a:off x="5733288" y="4892040"/>
            <a:ext cx="27432" cy="109728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4" name="Shape 12"/>
          <p:cNvSpPr/>
          <p:nvPr/>
        </p:nvSpPr>
        <p:spPr>
          <a:xfrm>
            <a:off x="6766560" y="4983480"/>
            <a:ext cx="54864" cy="16459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5" name="Shape 13"/>
          <p:cNvSpPr/>
          <p:nvPr/>
        </p:nvSpPr>
        <p:spPr>
          <a:xfrm>
            <a:off x="6784848" y="4892040"/>
            <a:ext cx="27432" cy="109728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6" name="Shape 14"/>
          <p:cNvSpPr/>
          <p:nvPr/>
        </p:nvSpPr>
        <p:spPr>
          <a:xfrm>
            <a:off x="7818120" y="4983480"/>
            <a:ext cx="54864" cy="16459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7" name="Shape 15"/>
          <p:cNvSpPr/>
          <p:nvPr/>
        </p:nvSpPr>
        <p:spPr>
          <a:xfrm>
            <a:off x="7836408" y="4892040"/>
            <a:ext cx="27432" cy="109728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D4B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QUANTUM ALGORITHMS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strategies for navigating the maze at quantum speed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1417320"/>
            <a:ext cx="3931920" cy="3200400"/>
          </a:xfrm>
          <a:prstGeom prst="rect">
            <a:avLst/>
          </a:prstGeom>
          <a:solidFill>
            <a:srgbClr val="1B2838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1417320"/>
            <a:ext cx="3931920" cy="54864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15544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D4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GROVER'S ALGORITHM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0080" y="19202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a needle in a haystack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" y="2286000"/>
            <a:ext cx="3566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Imagine the maze has one million rooms and the exit is hidden in just one. A classical computer checks rooms one by one — up to a million tries.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Grover's algorithm sends quantum walkers through ALL rooms at once, using interference to amplify the correct room's signal. It finds the exit in roughly 1,000 steps instead of 1,000,000.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754880" y="1417320"/>
            <a:ext cx="3931920" cy="3200400"/>
          </a:xfrm>
          <a:prstGeom prst="rect">
            <a:avLst/>
          </a:prstGeom>
          <a:solidFill>
            <a:srgbClr val="1B2838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1417320"/>
            <a:ext cx="3931920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7" name="Text 25"/>
          <p:cNvSpPr/>
          <p:nvPr/>
        </p:nvSpPr>
        <p:spPr>
          <a:xfrm>
            <a:off x="4937760" y="15544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SHOR'S ALGORITHM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937760" y="19202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Cracking codes by reshaping the maze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937760" y="2286000"/>
            <a:ext cx="3566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encryption relies on the fact that factoring huge numbers is astronomically slow for classical computers.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Shor's algorithm transforms this problem into a maze with hidden periodic patterns, then uses quantum interference to reveal those patterns exponentially faster. This could one day break most internet encryption.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" cy="7315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486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" name="Shape 2"/>
          <p:cNvSpPr/>
          <p:nvPr/>
        </p:nvSpPr>
        <p:spPr>
          <a:xfrm>
            <a:off x="228600" y="228600"/>
            <a:ext cx="320040" cy="54864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228600"/>
            <a:ext cx="54864" cy="32004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6" name="Shape 4"/>
          <p:cNvSpPr/>
          <p:nvPr/>
        </p:nvSpPr>
        <p:spPr>
          <a:xfrm>
            <a:off x="8595360" y="5070348"/>
            <a:ext cx="548640" cy="7315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7" name="Shape 5"/>
          <p:cNvSpPr/>
          <p:nvPr/>
        </p:nvSpPr>
        <p:spPr>
          <a:xfrm>
            <a:off x="9070848" y="4594860"/>
            <a:ext cx="73152" cy="5486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8" name="Shape 6"/>
          <p:cNvSpPr/>
          <p:nvPr/>
        </p:nvSpPr>
        <p:spPr>
          <a:xfrm>
            <a:off x="8595360" y="4864608"/>
            <a:ext cx="320040" cy="54864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9" name="Shape 7"/>
          <p:cNvSpPr/>
          <p:nvPr/>
        </p:nvSpPr>
        <p:spPr>
          <a:xfrm>
            <a:off x="8860536" y="4594860"/>
            <a:ext cx="54864" cy="32004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BBF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REAL-WORLD QUANTUM COMPUTERS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maze is being built right now — here's who's constructing it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1371600"/>
            <a:ext cx="4069080" cy="1280160"/>
          </a:xfrm>
          <a:prstGeom prst="rect">
            <a:avLst/>
          </a:prstGeom>
          <a:solidFill>
            <a:srgbClr val="1B2838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94360" y="144475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IBM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94360" y="1755648"/>
            <a:ext cx="3794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Eagle processor with 127+ qubits. Uses superconducting circuits cooled near absolute zero — like building a maze inside a freezer colder than outer space.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17720" y="1371600"/>
            <a:ext cx="4069080" cy="1280160"/>
          </a:xfrm>
          <a:prstGeom prst="rect">
            <a:avLst/>
          </a:prstGeom>
          <a:solidFill>
            <a:srgbClr val="1B2838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754880" y="144475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D4B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GOOGLE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754880" y="1755648"/>
            <a:ext cx="3794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Achieved 'quantum supremacy' in 2019 — Sycamore solved a problem in 200 seconds that would take a supercomputer 10,000 years. The maze, outrunning all classical explorers.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2880360"/>
            <a:ext cx="4069080" cy="1280160"/>
          </a:xfrm>
          <a:prstGeom prst="rect">
            <a:avLst/>
          </a:prstGeom>
          <a:solidFill>
            <a:srgbClr val="1B2838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94360" y="295351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MICROSOFT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94360" y="3264408"/>
            <a:ext cx="3794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Betting on topological qubits — a radically different maze architecture inherently resistant to errors, like building walls that repair themselves.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17720" y="2880360"/>
            <a:ext cx="4069080" cy="1280160"/>
          </a:xfrm>
          <a:prstGeom prst="rect">
            <a:avLst/>
          </a:prstGeom>
          <a:solidFill>
            <a:srgbClr val="1B2838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754880" y="295351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STARTUPS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754880" y="3264408"/>
            <a:ext cx="3794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IonQ uses trapped ions, Rigetti builds cloud chips, PsiQuantum pursues photonic qubits — each designing their own unique style of quantum maze.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0" y="4343400"/>
            <a:ext cx="2743200" cy="640080"/>
          </a:xfrm>
          <a:prstGeom prst="roundRect">
            <a:avLst>
              <a:gd name="adj" fmla="val 17143"/>
            </a:avLst>
          </a:prstGeom>
          <a:solidFill>
            <a:srgbClr val="FBBF24">
              <a:alpha val="6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3291840" y="4407408"/>
            <a:ext cx="2560320" cy="502920"/>
          </a:xfrm>
          <a:prstGeom prst="roundRect">
            <a:avLst>
              <a:gd name="adj" fmla="val 18182"/>
            </a:avLst>
          </a:prstGeom>
          <a:solidFill>
            <a:srgbClr val="FBBF24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Text 24">
            <a:hlinkClick r:id="rIdundefined" tooltip="Test your quantum knowledge!"/>
          </p:cNvPr>
          <p:cNvSpPr/>
          <p:nvPr/>
        </p:nvSpPr>
        <p:spPr>
          <a:xfrm>
            <a:off x="3291840" y="440740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  <a:hlinkClick r:id="rIdundefined" invalidUrl="" action="" tgtFrame="" tooltip="Test your quantum knowledge!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🧩 TAKE THE QUIZ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109728" cy="36576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" y="310896"/>
            <a:ext cx="137160" cy="27432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097280"/>
            <a:ext cx="109728" cy="54864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" name="Shape 3"/>
          <p:cNvSpPr/>
          <p:nvPr/>
        </p:nvSpPr>
        <p:spPr>
          <a:xfrm>
            <a:off x="109728" y="1133856"/>
            <a:ext cx="137160" cy="27432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1920240"/>
            <a:ext cx="109728" cy="7315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7" name="Shape 5"/>
          <p:cNvSpPr/>
          <p:nvPr/>
        </p:nvSpPr>
        <p:spPr>
          <a:xfrm>
            <a:off x="109728" y="1956816"/>
            <a:ext cx="137160" cy="27432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8" name="Shape 6"/>
          <p:cNvSpPr/>
          <p:nvPr/>
        </p:nvSpPr>
        <p:spPr>
          <a:xfrm>
            <a:off x="0" y="2743200"/>
            <a:ext cx="109728" cy="36576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9" name="Shape 7"/>
          <p:cNvSpPr/>
          <p:nvPr/>
        </p:nvSpPr>
        <p:spPr>
          <a:xfrm>
            <a:off x="109728" y="2779776"/>
            <a:ext cx="137160" cy="27432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3566160"/>
            <a:ext cx="109728" cy="54864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1" name="Shape 9"/>
          <p:cNvSpPr/>
          <p:nvPr/>
        </p:nvSpPr>
        <p:spPr>
          <a:xfrm>
            <a:off x="109728" y="3602736"/>
            <a:ext cx="137160" cy="27432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4389120"/>
            <a:ext cx="109728" cy="7315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3" name="Shape 11"/>
          <p:cNvSpPr/>
          <p:nvPr/>
        </p:nvSpPr>
        <p:spPr>
          <a:xfrm>
            <a:off x="109728" y="4425696"/>
            <a:ext cx="137160" cy="27432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CHALLENGES: THE MAZE FIGHTS BACK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quantum computer is like constructing a maze out of fog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1417320"/>
            <a:ext cx="8229600" cy="1051560"/>
          </a:xfrm>
          <a:prstGeom prst="rect">
            <a:avLst/>
          </a:prstGeom>
          <a:solidFill>
            <a:srgbClr val="1B2838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1417320"/>
            <a:ext cx="73152" cy="10515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149047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DECOHERENCE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743200" y="149047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walls dissolve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31520" y="1801368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Qubits are incredibly fragile. Heat, vibration, or a stray photon causes the quantum maze to collapse. That's why quantum chips operate at -459°F — colder than outer space.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2697480"/>
            <a:ext cx="8229600" cy="1051560"/>
          </a:xfrm>
          <a:prstGeom prst="rect">
            <a:avLst/>
          </a:prstGeom>
          <a:solidFill>
            <a:srgbClr val="1B2838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2697480"/>
            <a:ext cx="73152" cy="105156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277063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ERROR CORRECTION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2743200" y="277063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Rebuilding walls as they crumble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31520" y="3081528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Thousands of physical qubits create one reliable 'logical qubit.' Imagine needing 1,000 workers to maintain a single maze wall. This is the biggest engineering challenge.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3977640"/>
            <a:ext cx="8229600" cy="1051560"/>
          </a:xfrm>
          <a:prstGeom prst="rect">
            <a:avLst/>
          </a:prstGeom>
          <a:solidFill>
            <a:srgbClr val="1B2838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7200" y="3977640"/>
            <a:ext cx="73152" cy="105156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28" name="Text 26"/>
          <p:cNvSpPr/>
          <p:nvPr/>
        </p:nvSpPr>
        <p:spPr>
          <a:xfrm>
            <a:off x="731520" y="405079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SCALABILITY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2743200" y="405079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the maze bigger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31520" y="4361688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Today: hundreds of qubits. Useful applications need millions. Each new corridor makes every existing one harder to maintain — like extending a maze on a vibrating table.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54864" cy="3657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731520"/>
            <a:ext cx="54864" cy="2743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4572000"/>
            <a:ext cx="54864" cy="5486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7" name="Shape 5"/>
          <p:cNvSpPr/>
          <p:nvPr/>
        </p:nvSpPr>
        <p:spPr>
          <a:xfrm>
            <a:off x="9089136" y="0"/>
            <a:ext cx="54864" cy="3657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8" name="Shape 6"/>
          <p:cNvSpPr/>
          <p:nvPr/>
        </p:nvSpPr>
        <p:spPr>
          <a:xfrm>
            <a:off x="9089136" y="731520"/>
            <a:ext cx="54864" cy="2743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9" name="Shape 7"/>
          <p:cNvSpPr/>
          <p:nvPr/>
        </p:nvSpPr>
        <p:spPr>
          <a:xfrm>
            <a:off x="9089136" y="4572000"/>
            <a:ext cx="54864" cy="5486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0" name="Shape 8"/>
          <p:cNvSpPr/>
          <p:nvPr/>
        </p:nvSpPr>
        <p:spPr>
          <a:xfrm>
            <a:off x="1371600" y="365760"/>
            <a:ext cx="6400800" cy="4114800"/>
          </a:xfrm>
          <a:prstGeom prst="rect">
            <a:avLst/>
          </a:prstGeom>
          <a:solidFill>
            <a:srgbClr val="1B2838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371600" y="365760"/>
            <a:ext cx="6400800" cy="54864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2" name="Shape 10"/>
          <p:cNvSpPr/>
          <p:nvPr/>
        </p:nvSpPr>
        <p:spPr>
          <a:xfrm>
            <a:off x="1371600" y="365760"/>
            <a:ext cx="54864" cy="41148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3" name="Shape 11"/>
          <p:cNvSpPr/>
          <p:nvPr/>
        </p:nvSpPr>
        <p:spPr>
          <a:xfrm>
            <a:off x="7717536" y="365760"/>
            <a:ext cx="54864" cy="13716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4" name="Shape 12"/>
          <p:cNvSpPr/>
          <p:nvPr/>
        </p:nvSpPr>
        <p:spPr>
          <a:xfrm>
            <a:off x="7717536" y="2468880"/>
            <a:ext cx="54864" cy="20116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5" name="Shape 13"/>
          <p:cNvSpPr/>
          <p:nvPr/>
        </p:nvSpPr>
        <p:spPr>
          <a:xfrm>
            <a:off x="1371600" y="4425696"/>
            <a:ext cx="6400800" cy="54864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6" name="Shape 14"/>
          <p:cNvSpPr/>
          <p:nvPr/>
        </p:nvSpPr>
        <p:spPr>
          <a:xfrm>
            <a:off x="7589520" y="1691640"/>
            <a:ext cx="365760" cy="731520"/>
          </a:xfrm>
          <a:prstGeom prst="ellipse">
            <a:avLst/>
          </a:prstGeom>
          <a:solidFill>
            <a:srgbClr val="2DD4BF">
              <a:alpha val="6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7653528" y="1801368"/>
            <a:ext cx="237744" cy="512064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8" name="Text 16"/>
          <p:cNvSpPr/>
          <p:nvPr/>
        </p:nvSpPr>
        <p:spPr>
          <a:xfrm>
            <a:off x="1828800" y="640080"/>
            <a:ext cx="5486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DD4B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YOU'VE NAVIGATED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rgbClr val="2DD4B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QUANTUM MAZE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2011680" y="1920240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classical bits to qubits, from single paths to superposition, from isolated corridors to entangled passages — you've traveled through the fundamental ideas that make quantum computing one of the most exciting frontiers in science and technology.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011680" y="320040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maze of quantum computing is still being built.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Maybe one day, you'll help design its next corridor.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14400" y="4572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Thank you for exploring with us.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Navigating the Quantum Maze</dc:title>
  <dc:subject>PptxGenJS Presentation</dc:subject>
  <dc:creator>Quantum Computing Education</dc:creator>
  <cp:lastModifiedBy>Quantum Computing Education</cp:lastModifiedBy>
  <cp:revision>1</cp:revision>
  <dcterms:created xsi:type="dcterms:W3CDTF">2026-02-25T00:13:31Z</dcterms:created>
  <dcterms:modified xsi:type="dcterms:W3CDTF">2026-02-25T00:13:31Z</dcterms:modified>
</cp:coreProperties>
</file>