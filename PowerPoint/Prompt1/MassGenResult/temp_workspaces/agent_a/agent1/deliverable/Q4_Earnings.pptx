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($M)</c:v>
                </c:pt>
              </c:strCache>
            </c:strRef>
          </c:tx>
          <c:dPt>
            <c:idx val="0"/>
            <c:spPr>
              <a:solidFill>
                <a:srgbClr val="2E86AB"/>
              </a:solidFill>
            </c:spPr>
          </c:dPt>
          <c:dPt>
            <c:idx val="1"/>
            <c:spPr>
              <a:solidFill>
                <a:srgbClr val="2E86AB"/>
              </a:solidFill>
            </c:spPr>
          </c:dPt>
          <c:dPt>
            <c:idx val="2"/>
            <c:spPr>
              <a:solidFill>
                <a:srgbClr val="2E86AB"/>
              </a:solidFill>
            </c:spPr>
          </c:dPt>
          <c:dPt>
            <c:idx val="3"/>
            <c:spPr>
              <a:solidFill>
                <a:srgbClr val="E84D3D"/>
              </a:solidFill>
            </c:spPr>
          </c:dPt>
          <c:cat>
            <c:strRef>
              <c:f>Sheet1!$A$2:$A$5</c:f>
              <c:strCache>
                <c:ptCount val="4"/>
                <c:pt idx="0">
                  <c:v>Q1</c:v>
                </c:pt>
                <c:pt idx="1">
                  <c:v>Q2</c:v>
                </c:pt>
                <c:pt idx="2">
                  <c:v>Q3</c:v>
                </c:pt>
                <c:pt idx="3">
                  <c:v>Q4</c:v>
                </c:pt>
              </c:strCache>
            </c:strRef>
          </c:cat>
          <c:val>
            <c:numRef>
              <c:f>Sheet1!$B$2:$B$5</c:f>
              <c:numCache>
                <c:formatCode>General</c:formatCode>
                <c:ptCount val="4"/>
                <c:pt idx="0">
                  <c:v>2.4</c:v>
                </c:pt>
                <c:pt idx="1">
                  <c:v>2.8</c:v>
                </c:pt>
                <c:pt idx="2">
                  <c:v>3.1</c:v>
                </c:pt>
                <c:pt idx="3">
                  <c:v>2.9</c:v>
                </c:pt>
              </c:numCache>
            </c:numRef>
          </c:val>
        </c:ser>
        <c:dLbls>
          <c:numFmt formatCode="$#,##0.0&quot;M&quot;" sourceLinked="0"/>
          <c:txPr>
            <a:bodyPr/>
            <a:lstStyle/>
            <a:p>
              <a:pPr>
                <a:defRPr sz="1200" b="1"/>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b="1"/>
            </a:pPr>
          </a:p>
        </c:txPr>
        <c:crossAx val="-2113994440"/>
        <c:crosses val="autoZero"/>
        <c:auto val="1"/>
        <c:lblAlgn val="ctr"/>
        <c:lblOffset val="100"/>
        <c:noMultiLvlLbl val="0"/>
      </c:catAx>
      <c:valAx>
        <c:axId val="-2113994440"/>
        <c:scaling>
          <c:max val="4.0"/>
          <c:min val="0.0"/>
        </c:scaling>
        <c:delete val="0"/>
        <c:axPos val="l"/>
        <c:majorGridlines>
          <c:spPr>
            <a:ln>
              <a:solidFill>
                <a:srgbClr val="DDDDDD"/>
              </a:solidFill>
            </a:ln>
          </c:spPr>
        </c:majorGridlines>
        <c:title>
          <c:tx>
            <c:rich>
              <a:bodyPr/>
              <a:lstStyle/>
              <a:p>
                <a:pPr>
                  <a:defRPr sz="1100">
                    <a:solidFill>
                      <a:srgbClr val="2D2D2D"/>
                    </a:solidFill>
                  </a:defRPr>
                </a:pPr>
                <a:r>
                  <a:t>Revenue ($M)</a:t>
                </a:r>
              </a:p>
            </c:rich>
          </c:tx>
          <c:layout/>
          <c:overlay val="0"/>
        </c:title>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Churn Breakdown</c:v>
                </c:pt>
              </c:strCache>
            </c:strRef>
          </c:tx>
          <c:dPt>
            <c:idx val="0"/>
            <c:spPr>
              <a:solidFill>
                <a:srgbClr val="2E86AB"/>
              </a:solidFill>
            </c:spPr>
          </c:dPt>
          <c:dPt>
            <c:idx val="1"/>
            <c:spPr>
              <a:solidFill>
                <a:srgbClr val="1B3A5C"/>
              </a:solidFill>
            </c:spPr>
          </c:dPt>
          <c:dPt>
            <c:idx val="2"/>
            <c:spPr>
              <a:solidFill>
                <a:srgbClr val="E84D3D"/>
              </a:solidFill>
            </c:spPr>
          </c:dPt>
          <c:dPt>
            <c:idx val="3"/>
            <c:spPr>
              <a:solidFill>
                <a:srgbClr val="F39C12"/>
              </a:solidFill>
            </c:spPr>
          </c:dPt>
          <c:dPt>
            <c:idx val="4"/>
            <c:spPr>
              <a:solidFill>
                <a:srgbClr val="27AE60"/>
              </a:solidFill>
            </c:spPr>
          </c:dPt>
          <c:cat>
            <c:strRef>
              <c:f>Sheet1!$A$2:$A$6</c:f>
              <c:strCache>
                <c:ptCount val="5"/>
                <c:pt idx="0">
                  <c:v>Voluntary – Price Sensitivity</c:v>
                </c:pt>
                <c:pt idx="1">
                  <c:v>Voluntary – Competitor Switch</c:v>
                </c:pt>
                <c:pt idx="2">
                  <c:v>Voluntary – Feature Gaps</c:v>
                </c:pt>
                <c:pt idx="3">
                  <c:v>Involuntary – Payment Failure</c:v>
                </c:pt>
                <c:pt idx="4">
                  <c:v>Involuntary – Other</c:v>
                </c:pt>
              </c:strCache>
            </c:strRef>
          </c:cat>
          <c:val>
            <c:numRef>
              <c:f>Sheet1!$B$2:$B$6</c:f>
              <c:numCache>
                <c:formatCode>General</c:formatCode>
                <c:ptCount val="5"/>
                <c:pt idx="0">
                  <c:v>35</c:v>
                </c:pt>
                <c:pt idx="1">
                  <c:v>25</c:v>
                </c:pt>
                <c:pt idx="2">
                  <c:v>20</c:v>
                </c:pt>
                <c:pt idx="3">
                  <c:v>12</c:v>
                </c:pt>
                <c:pt idx="4">
                  <c:v>8</c:v>
                </c:pt>
              </c:numCache>
            </c:numRef>
          </c:val>
        </c:ser>
        <c:dLbls>
          <c:numFmt formatCode="0&quot;%&quot;" sourceLinked="0"/>
          <c:txPr>
            <a:bodyPr/>
            <a:lstStyle/>
            <a:p>
              <a:pPr>
                <a:defRPr sz="1000" b="1"/>
              </a:pPr>
            </a:p>
          </c:txPr>
          <c:showLegendKey val="0"/>
          <c:showVal val="1"/>
          <c:showCatName val="0"/>
          <c:showSerName val="0"/>
          <c:showPercent val="0"/>
          <c:showBubbleSize val="0"/>
          <c:showLeaderLines val="1"/>
        </c:dLbls>
      </c:pieChart>
    </c:plotArea>
    <c:legend>
      <c:legendPos val="b"/>
      <c:overlay val="0"/>
      <c:txPr>
        <a:bodyPr/>
        <a:lstStyle/>
        <a:p>
          <a:pPr>
            <a:defRPr sz="10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Opening Slide:</a:t>
            </a:r>
          </a:p>
          <a:p/>
          <a:p>
            <a:r>
              <a:t>Good morning, everyone. Thank you for joining our Q4 earnings call. I want to address the Q4 revenue figure up front: we came in at $2.9M, which represents a sequential decline from Q3's $3.1M. However, this was a deliberate outcome of strategic decisions we made mid-quarter — specifically, sunsetting two low-margin product lines and transitioning enterprise clients to annual contracts that will begin recognizing revenue in Q1 of next year. Full-year revenue reached $11.2M, a 21% increase year-over-year. Let's walk through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Executive Summary:</a:t>
            </a:r>
          </a:p>
          <a:p/>
          <a:p>
            <a:r>
              <a:t>The headline here is that while Q4 showed a sequential decline, our annual metrics tell a compelling growth story. The $2.9M Q4 figure includes a $180K impact from deferred enterprise contract revenue that will land in Q1. The 4% churn increase is concentrated in our SMB segment — our enterprise retention actually improved to 97%. We are taking targeted action on SMB churn with a new onboarding program launching in January.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Revenue Chart:</a:t>
            </a:r>
          </a:p>
          <a:p/>
          <a:p>
            <a:r>
              <a:t>Looking at the bar chart, you'll see consistent growth from Q1 through Q3, then the dip in Q4. I want to be very transparent: approximately $200K of the shortfall is attributable to the enterprise contract transition I mentioned. Another ~$50K relates to sunsetting our legacy analytics add-on. Excluding these items, underlying Q4 revenue would have been approximately $3.15M — above Q3. The trajectory remains positive and we expect Q1 FY2026 revenue to exceed $3.3M as deferred revenue begins to recognize.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Financial Metrics:</a:t>
            </a:r>
          </a:p>
          <a:p/>
          <a:p>
            <a:r>
              <a:t>I want to draw your attention to deferred revenue, which grew 22% quarter-over-quarter to $1.8M. This is the direct result of the enterprise contract restructuring and gives us high visibility into Q1. Our EBITDA margin of 14.5% shows we're balancing growth with profitability. The Q4 revenue dip did not impact our bottom line disproportionately because we proactively managed opex — the hiring freeze saved approximately $150K in the quarter. Our cash position of $8.7M gives us 12+ months of runway even in a zero-growth scenario.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Churn Breakdown:</a:t>
            </a:r>
          </a:p>
          <a:p/>
          <a:p>
            <a:r>
              <a:t>The 4% increase in churn is our most pressing concern and I want to address it head-on. The pie chart shows that price sensitivity (35%) and competitor switching (25%) account for 60% of churn — both are actionable. We are launching a revised pricing tier for SMB customers in Q1 that reduces the entry-level price point by 15% while maintaining per-seat economics. For competitor switching, our product team is fast-tracking three feature requests that exit-survey data identified as top reasons. The 12% involuntary churn from payment failures is being addressed with a new dunning system going live next month. I'm confident we can reduce overall churn by 2 percentage points within two quarters.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Root Cause Analysis:</a:t>
            </a:r>
          </a:p>
          <a:p/>
          <a:p>
            <a:r>
              <a:t>This slide is critical for understanding the Q4 narrative. The $180K in deferred enterprise revenue is not revenue lost — it's revenue shifted. These 12 enterprise contracts represent $2.16M in annual committed value, which is actually a 15% uplift from their previous monthly arrangements. The legacy analytics sunset was planned for 18 months and removes a product with 45% gross margin versus our core platform at 78%. The SMB churn of $90K is the one area I'm not satisfied with — our new pricing and onboarding initiatives directly target this. Net-net, I view Q4 as a quarter where we made hard short-term choices for long-term structural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Outlook:</a:t>
            </a:r>
          </a:p>
          <a:p/>
          <a:p>
            <a:r>
              <a:t>Our guidance range of $13.5M to $14.2M assumes the deferred enterprise revenue converts as contracted — which we have high confidence in given the signed commitments. The Q1 target of $3.3M to $3.5M already has 85% pipeline coverage. We're investing in 18 new hires across sales, engineering, and customer success — the CS hires are specifically aimed at our churn reduction target. Our AI analytics module launching in Q2 has generated significant interest in beta, with 40 enterprise prospects in the pipeline. The Q4 revenue dip should be viewed as the trough in a transition quarter — we expect accelerating sequential growth through FY2026.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Closing:</a:t>
            </a:r>
          </a:p>
          <a:p/>
          <a:p>
            <a:r>
              <a:t>Before we open for Q&amp;A, I want to reiterate three points: First, the Q4 revenue dip is a timing and transition issue — $180K is deferred, not lost. Second, our churn increase is concentrated, understood, and being actively addressed with specific programs launching in Q1. Third, our forward indicators — deferred revenue, pipeline, NRR — are all strong. I'm confident in our FY2026 guidance and I look forward to reporting on the progress of our churn reduction and revenue acceleration initiatives next quarter. We're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640080" y="1371600"/>
            <a:ext cx="7863840" cy="822960"/>
          </a:xfrm>
          <a:prstGeom prst="rect">
            <a:avLst/>
          </a:prstGeom>
          <a:noFill/>
        </p:spPr>
        <p:txBody>
          <a:bodyPr wrap="square">
            <a:spAutoFit/>
          </a:bodyPr>
          <a:lstStyle/>
          <a:p>
            <a:pPr>
              <a:defRPr sz="3600" b="1">
                <a:solidFill>
                  <a:srgbClr val="FFFFFF"/>
                </a:solidFill>
                <a:latin typeface="Calibri"/>
              </a:defRPr>
            </a:pPr>
            <a:r>
              <a:t>Q4 FY2025 Quarterly Earnings Report</a:t>
            </a:r>
          </a:p>
        </p:txBody>
      </p:sp>
      <p:sp>
        <p:nvSpPr>
          <p:cNvPr id="3" name="TextBox 2"/>
          <p:cNvSpPr txBox="1"/>
          <p:nvPr/>
        </p:nvSpPr>
        <p:spPr>
          <a:xfrm>
            <a:off x="640080" y="2560320"/>
            <a:ext cx="7863840" cy="3657600"/>
          </a:xfrm>
          <a:prstGeom prst="rect">
            <a:avLst/>
          </a:prstGeom>
          <a:noFill/>
        </p:spPr>
        <p:txBody>
          <a:bodyPr wrap="square">
            <a:spAutoFit/>
          </a:bodyPr>
          <a:lstStyle/>
          <a:p>
            <a:pPr>
              <a:spcAft>
                <a:spcPts val="400"/>
              </a:spcAft>
              <a:defRPr sz="2000">
                <a:solidFill>
                  <a:srgbClr val="BBCCDD"/>
                </a:solidFill>
                <a:latin typeface="Calibri"/>
              </a:defRPr>
            </a:pPr>
            <a:r>
              <a:t>SaaSCo Inc. – Investor Presentation</a:t>
            </a:r>
          </a:p>
        </p:txBody>
      </p:sp>
      <p:sp>
        <p:nvSpPr>
          <p:cNvPr id="4" name="TextBox 3"/>
          <p:cNvSpPr txBox="1"/>
          <p:nvPr/>
        </p:nvSpPr>
        <p:spPr>
          <a:xfrm>
            <a:off x="640080" y="3291840"/>
            <a:ext cx="7863840" cy="3657600"/>
          </a:xfrm>
          <a:prstGeom prst="rect">
            <a:avLst/>
          </a:prstGeom>
          <a:noFill/>
        </p:spPr>
        <p:txBody>
          <a:bodyPr wrap="square">
            <a:spAutoFit/>
          </a:bodyPr>
          <a:lstStyle/>
          <a:p>
            <a:pPr>
              <a:spcAft>
                <a:spcPts val="400"/>
              </a:spcAft>
              <a:defRPr sz="1400">
                <a:solidFill>
                  <a:srgbClr val="99AABB"/>
                </a:solidFill>
                <a:latin typeface="Calibri"/>
              </a:defRPr>
            </a:pPr>
            <a:r>
              <a:t>Fiscal Quarter Ending December 31, 2025</a:t>
            </a:r>
          </a:p>
        </p:txBody>
      </p:sp>
      <p:sp>
        <p:nvSpPr>
          <p:cNvPr id="5" name="TextBox 4"/>
          <p:cNvSpPr txBox="1"/>
          <p:nvPr/>
        </p:nvSpPr>
        <p:spPr>
          <a:xfrm>
            <a:off x="640080" y="5029200"/>
            <a:ext cx="786384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Despite a Q4 revenue dip to $2.9M, annual revenue grew 21% YoY with a strong $11.2M total.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7863840" cy="822960"/>
          </a:xfrm>
          <a:prstGeom prst="rect">
            <a:avLst/>
          </a:prstGeom>
          <a:noFill/>
        </p:spPr>
        <p:txBody>
          <a:bodyPr wrap="square">
            <a:spAutoFit/>
          </a:bodyPr>
          <a:lstStyle/>
          <a:p>
            <a:pPr>
              <a:defRPr sz="3200" b="1">
                <a:solidFill>
                  <a:srgbClr val="1B3A5C"/>
                </a:solidFill>
                <a:latin typeface="Calibri"/>
              </a:defRPr>
            </a:pPr>
            <a:r>
              <a:t>Executive Summary</a:t>
            </a:r>
          </a:p>
        </p:txBody>
      </p:sp>
      <p:sp>
        <p:nvSpPr>
          <p:cNvPr id="3" name="TextBox 2"/>
          <p:cNvSpPr txBox="1"/>
          <p:nvPr/>
        </p:nvSpPr>
        <p:spPr>
          <a:xfrm>
            <a:off x="640080" y="1463040"/>
            <a:ext cx="7863840" cy="3657600"/>
          </a:xfrm>
          <a:prstGeom prst="rect">
            <a:avLst/>
          </a:prstGeom>
          <a:noFill/>
        </p:spPr>
        <p:txBody>
          <a:bodyPr wrap="square">
            <a:spAutoFit/>
          </a:bodyPr>
          <a:lstStyle/>
          <a:p>
            <a:pPr>
              <a:spcAft>
                <a:spcPts val="400"/>
              </a:spcAft>
              <a:defRPr sz="1600" b="1">
                <a:solidFill>
                  <a:srgbClr val="2D2D2D"/>
                </a:solidFill>
                <a:latin typeface="Calibri"/>
              </a:defRPr>
            </a:pPr>
            <a:r>
              <a:t>• Full-year revenue: $11.2M (+21% YoY)</a:t>
            </a:r>
          </a:p>
          <a:p>
            <a:pPr>
              <a:spcAft>
                <a:spcPts val="400"/>
              </a:spcAft>
              <a:defRPr sz="1600" b="1">
                <a:solidFill>
                  <a:srgbClr val="2D2D2D"/>
                </a:solidFill>
                <a:latin typeface="Calibri"/>
              </a:defRPr>
            </a:pPr>
            <a:r>
              <a:t>• Q4 revenue: $2.9M (–6.5% QoQ from Q3's $3.1M)</a:t>
            </a:r>
          </a:p>
          <a:p>
            <a:pPr>
              <a:spcAft>
                <a:spcPts val="400"/>
              </a:spcAft>
              <a:defRPr sz="1600" b="1">
                <a:solidFill>
                  <a:srgbClr val="2D2D2D"/>
                </a:solidFill>
                <a:latin typeface="Calibri"/>
              </a:defRPr>
            </a:pPr>
            <a:r>
              <a:t>• ARR run-rate: $11.6M entering FY2026</a:t>
            </a:r>
          </a:p>
          <a:p>
            <a:pPr>
              <a:spcAft>
                <a:spcPts val="400"/>
              </a:spcAft>
              <a:defRPr sz="1600" b="1">
                <a:solidFill>
                  <a:srgbClr val="2D2D2D"/>
                </a:solidFill>
                <a:latin typeface="Calibri"/>
              </a:defRPr>
            </a:pPr>
            <a:r>
              <a:t>• Net Revenue Retention (NRR): 112%</a:t>
            </a:r>
          </a:p>
          <a:p>
            <a:pPr>
              <a:spcAft>
                <a:spcPts val="400"/>
              </a:spcAft>
              <a:defRPr sz="1600" b="1">
                <a:solidFill>
                  <a:srgbClr val="2D2D2D"/>
                </a:solidFill>
                <a:latin typeface="Calibri"/>
              </a:defRPr>
            </a:pPr>
            <a:r>
              <a:t>• Customer churn increased 4% in Q4 — driven by SMB segment</a:t>
            </a:r>
          </a:p>
          <a:p>
            <a:pPr>
              <a:spcAft>
                <a:spcPts val="400"/>
              </a:spcAft>
              <a:defRPr sz="1600" b="1">
                <a:solidFill>
                  <a:srgbClr val="2D2D2D"/>
                </a:solidFill>
                <a:latin typeface="Calibri"/>
              </a:defRPr>
            </a:pPr>
            <a:r>
              <a:t>• Gross margin held steady at 74%</a:t>
            </a:r>
          </a:p>
          <a:p>
            <a:pPr>
              <a:spcAft>
                <a:spcPts val="400"/>
              </a:spcAft>
              <a:defRPr sz="1600" b="1">
                <a:solidFill>
                  <a:srgbClr val="2D2D2D"/>
                </a:solidFill>
                <a:latin typeface="Calibri"/>
              </a:defRPr>
            </a:pPr>
            <a:r>
              <a:t>• Operating cash flow positive for third consecutive quarter</a:t>
            </a:r>
          </a:p>
        </p:txBody>
      </p:sp>
      <p:sp>
        <p:nvSpPr>
          <p:cNvPr id="4" name="TextBox 3"/>
          <p:cNvSpPr txBox="1"/>
          <p:nvPr/>
        </p:nvSpPr>
        <p:spPr>
          <a:xfrm>
            <a:off x="640080" y="5486400"/>
            <a:ext cx="786384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The Q4 dip is a timing issue from contract transitions — ARR and NRR remain strong.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7863840" cy="822960"/>
          </a:xfrm>
          <a:prstGeom prst="rect">
            <a:avLst/>
          </a:prstGeom>
          <a:noFill/>
        </p:spPr>
        <p:txBody>
          <a:bodyPr wrap="square">
            <a:spAutoFit/>
          </a:bodyPr>
          <a:lstStyle/>
          <a:p>
            <a:pPr>
              <a:defRPr sz="3200" b="1">
                <a:solidFill>
                  <a:srgbClr val="1B3A5C"/>
                </a:solidFill>
                <a:latin typeface="Calibri"/>
              </a:defRPr>
            </a:pPr>
            <a:r>
              <a:t>Quarterly Revenue Comparison</a:t>
            </a:r>
          </a:p>
        </p:txBody>
      </p:sp>
      <p:graphicFrame>
        <p:nvGraphicFramePr>
          <p:cNvPr id="3" name="Chart 2"/>
          <p:cNvGraphicFramePr>
            <a:graphicFrameLocks noGrp="1"/>
          </p:cNvGraphicFramePr>
          <p:nvPr/>
        </p:nvGraphicFramePr>
        <p:xfrm>
          <a:off x="914400" y="1463040"/>
          <a:ext cx="7315200" cy="3657600"/>
        </p:xfrm>
        <a:graphic>
          <a:graphicData uri="http://schemas.openxmlformats.org/drawingml/2006/chart">
            <c:chart xmlns:c="http://schemas.openxmlformats.org/drawingml/2006/chart" r:id="rId2"/>
          </a:graphicData>
        </a:graphic>
      </p:graphicFrame>
      <p:sp>
        <p:nvSpPr>
          <p:cNvPr id="4" name="TextBox 3"/>
          <p:cNvSpPr txBox="1"/>
          <p:nvPr/>
        </p:nvSpPr>
        <p:spPr>
          <a:xfrm>
            <a:off x="640080" y="5486400"/>
            <a:ext cx="786384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Q4's $2.9M reflects strategic contract restructuring, not demand weakness. Q3 peak of $3.1M included one-time upsells.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7863840" cy="822960"/>
          </a:xfrm>
          <a:prstGeom prst="rect">
            <a:avLst/>
          </a:prstGeom>
          <a:noFill/>
        </p:spPr>
        <p:txBody>
          <a:bodyPr wrap="square">
            <a:spAutoFit/>
          </a:bodyPr>
          <a:lstStyle/>
          <a:p>
            <a:pPr>
              <a:defRPr sz="3200" b="1">
                <a:solidFill>
                  <a:srgbClr val="1B3A5C"/>
                </a:solidFill>
                <a:latin typeface="Calibri"/>
              </a:defRPr>
            </a:pPr>
            <a:r>
              <a:t>Key Financial Metrics</a:t>
            </a:r>
          </a:p>
        </p:txBody>
      </p:sp>
      <p:sp>
        <p:nvSpPr>
          <p:cNvPr id="3" name="TextBox 2"/>
          <p:cNvSpPr txBox="1"/>
          <p:nvPr/>
        </p:nvSpPr>
        <p:spPr>
          <a:xfrm>
            <a:off x="640080" y="1463040"/>
            <a:ext cx="7863840" cy="3657600"/>
          </a:xfrm>
          <a:prstGeom prst="rect">
            <a:avLst/>
          </a:prstGeom>
          <a:noFill/>
        </p:spPr>
        <p:txBody>
          <a:bodyPr wrap="square">
            <a:spAutoFit/>
          </a:bodyPr>
          <a:lstStyle/>
          <a:p>
            <a:pPr>
              <a:spcAft>
                <a:spcPts val="400"/>
              </a:spcAft>
              <a:defRPr sz="1600" b="1">
                <a:solidFill>
                  <a:srgbClr val="2D2D2D"/>
                </a:solidFill>
                <a:latin typeface="Calibri"/>
              </a:defRPr>
            </a:pPr>
            <a:r>
              <a:t>• Gross Margin: 74% (stable QoQ)</a:t>
            </a:r>
          </a:p>
          <a:p>
            <a:pPr>
              <a:spcAft>
                <a:spcPts val="400"/>
              </a:spcAft>
              <a:defRPr sz="1600" b="1">
                <a:solidFill>
                  <a:srgbClr val="2D2D2D"/>
                </a:solidFill>
                <a:latin typeface="Calibri"/>
              </a:defRPr>
            </a:pPr>
            <a:r>
              <a:t>• Operating Expenses: $2.1M (–3% QoQ due to hiring freeze)</a:t>
            </a:r>
          </a:p>
          <a:p>
            <a:pPr>
              <a:spcAft>
                <a:spcPts val="400"/>
              </a:spcAft>
              <a:defRPr sz="1600" b="1">
                <a:solidFill>
                  <a:srgbClr val="2D2D2D"/>
                </a:solidFill>
                <a:latin typeface="Calibri"/>
              </a:defRPr>
            </a:pPr>
            <a:r>
              <a:t>• EBITDA: $0.42M (14.5% margin)</a:t>
            </a:r>
          </a:p>
          <a:p>
            <a:pPr>
              <a:spcAft>
                <a:spcPts val="400"/>
              </a:spcAft>
              <a:defRPr sz="1600" b="1">
                <a:solidFill>
                  <a:srgbClr val="2D2D2D"/>
                </a:solidFill>
                <a:latin typeface="Calibri"/>
              </a:defRPr>
            </a:pPr>
            <a:r>
              <a:t>• Free Cash Flow: $0.31M</a:t>
            </a:r>
          </a:p>
          <a:p>
            <a:pPr>
              <a:spcAft>
                <a:spcPts val="400"/>
              </a:spcAft>
              <a:defRPr sz="1600" b="1">
                <a:solidFill>
                  <a:srgbClr val="2D2D2D"/>
                </a:solidFill>
                <a:latin typeface="Calibri"/>
              </a:defRPr>
            </a:pPr>
            <a:r>
              <a:t>• Cash &amp; Equivalents: $8.7M</a:t>
            </a:r>
          </a:p>
          <a:p>
            <a:pPr>
              <a:spcAft>
                <a:spcPts val="400"/>
              </a:spcAft>
              <a:defRPr sz="1600" b="1">
                <a:solidFill>
                  <a:srgbClr val="2D2D2D"/>
                </a:solidFill>
                <a:latin typeface="Calibri"/>
              </a:defRPr>
            </a:pPr>
            <a:r>
              <a:t>• Deferred Revenue: $1.8M (+22% QoQ)</a:t>
            </a:r>
          </a:p>
          <a:p>
            <a:pPr>
              <a:spcAft>
                <a:spcPts val="400"/>
              </a:spcAft>
              <a:defRPr sz="1600" b="1">
                <a:solidFill>
                  <a:srgbClr val="2D2D2D"/>
                </a:solidFill>
                <a:latin typeface="Calibri"/>
              </a:defRPr>
            </a:pPr>
            <a:r>
              <a:t>• Rule of 40 Score: 35 (approaching benchmark)</a:t>
            </a:r>
          </a:p>
        </p:txBody>
      </p:sp>
      <p:sp>
        <p:nvSpPr>
          <p:cNvPr id="4" name="TextBox 3"/>
          <p:cNvSpPr txBox="1"/>
          <p:nvPr/>
        </p:nvSpPr>
        <p:spPr>
          <a:xfrm>
            <a:off x="640080" y="5486400"/>
            <a:ext cx="786384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Deferred revenue surged 22% QoQ — a strong leading indicator for Q1 FY2026.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7863840" cy="822960"/>
          </a:xfrm>
          <a:prstGeom prst="rect">
            <a:avLst/>
          </a:prstGeom>
          <a:noFill/>
        </p:spPr>
        <p:txBody>
          <a:bodyPr wrap="square">
            <a:spAutoFit/>
          </a:bodyPr>
          <a:lstStyle/>
          <a:p>
            <a:pPr>
              <a:defRPr sz="3200" b="1">
                <a:solidFill>
                  <a:srgbClr val="1B3A5C"/>
                </a:solidFill>
                <a:latin typeface="Calibri"/>
              </a:defRPr>
            </a:pPr>
            <a:r>
              <a:t>Customer Churn Analysis</a:t>
            </a:r>
          </a:p>
        </p:txBody>
      </p:sp>
      <p:graphicFrame>
        <p:nvGraphicFramePr>
          <p:cNvPr id="3" name="Chart 2"/>
          <p:cNvGraphicFramePr>
            <a:graphicFrameLocks noGrp="1"/>
          </p:cNvGraphicFramePr>
          <p:nvPr/>
        </p:nvGraphicFramePr>
        <p:xfrm>
          <a:off x="731520" y="1463040"/>
          <a:ext cx="7680960" cy="3657600"/>
        </p:xfrm>
        <a:graphic>
          <a:graphicData uri="http://schemas.openxmlformats.org/drawingml/2006/chart">
            <c:chart xmlns:c="http://schemas.openxmlformats.org/drawingml/2006/chart" r:id="rId2"/>
          </a:graphicData>
        </a:graphic>
      </p:graphicFrame>
      <p:sp>
        <p:nvSpPr>
          <p:cNvPr id="4" name="TextBox 3"/>
          <p:cNvSpPr txBox="1"/>
          <p:nvPr/>
        </p:nvSpPr>
        <p:spPr>
          <a:xfrm>
            <a:off x="640080" y="5486400"/>
            <a:ext cx="786384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60% of churn is voluntary and addressable — new onboarding and pricing programs target the top two drivers.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7863840" cy="822960"/>
          </a:xfrm>
          <a:prstGeom prst="rect">
            <a:avLst/>
          </a:prstGeom>
          <a:noFill/>
        </p:spPr>
        <p:txBody>
          <a:bodyPr wrap="square">
            <a:spAutoFit/>
          </a:bodyPr>
          <a:lstStyle/>
          <a:p>
            <a:pPr>
              <a:defRPr sz="3200" b="1">
                <a:solidFill>
                  <a:srgbClr val="1B3A5C"/>
                </a:solidFill>
                <a:latin typeface="Calibri"/>
              </a:defRPr>
            </a:pPr>
            <a:r>
              <a:t>Q4 Revenue Dip — Root Cause Analysis</a:t>
            </a:r>
          </a:p>
        </p:txBody>
      </p:sp>
      <p:sp>
        <p:nvSpPr>
          <p:cNvPr id="3" name="TextBox 2"/>
          <p:cNvSpPr txBox="1"/>
          <p:nvPr/>
        </p:nvSpPr>
        <p:spPr>
          <a:xfrm>
            <a:off x="640080" y="1463040"/>
            <a:ext cx="7863840" cy="3657600"/>
          </a:xfrm>
          <a:prstGeom prst="rect">
            <a:avLst/>
          </a:prstGeom>
          <a:noFill/>
        </p:spPr>
        <p:txBody>
          <a:bodyPr wrap="square">
            <a:spAutoFit/>
          </a:bodyPr>
          <a:lstStyle/>
          <a:p>
            <a:pPr>
              <a:spcAft>
                <a:spcPts val="400"/>
              </a:spcAft>
              <a:defRPr sz="1600" b="1">
                <a:solidFill>
                  <a:srgbClr val="2D2D2D"/>
                </a:solidFill>
                <a:latin typeface="Calibri"/>
              </a:defRPr>
            </a:pPr>
            <a:r>
              <a:t>Root Causes of Q4 Sequential Revenue Decline (–$200K):</a:t>
            </a:r>
          </a:p>
          <a:p>
            <a:pPr>
              <a:spcAft>
                <a:spcPts val="400"/>
              </a:spcAft>
              <a:defRPr sz="1600">
                <a:solidFill>
                  <a:srgbClr val="2D2D2D"/>
                </a:solidFill>
                <a:latin typeface="Calibri"/>
              </a:defRPr>
            </a:pPr>
          </a:p>
          <a:p>
            <a:pPr>
              <a:spcAft>
                <a:spcPts val="400"/>
              </a:spcAft>
              <a:defRPr sz="1600">
                <a:solidFill>
                  <a:srgbClr val="2D2D2D"/>
                </a:solidFill>
                <a:latin typeface="Calibri"/>
              </a:defRPr>
            </a:pPr>
            <a:r>
              <a:t>1. Enterprise Contract Transition: –$180K</a:t>
            </a:r>
          </a:p>
          <a:p>
            <a:pPr>
              <a:spcAft>
                <a:spcPts val="400"/>
              </a:spcAft>
              <a:defRPr sz="1400" b="0">
                <a:solidFill>
                  <a:srgbClr val="555555"/>
                </a:solidFill>
                <a:latin typeface="Calibri"/>
              </a:defRPr>
            </a:pPr>
            <a:r>
              <a:t>   → 12 enterprise clients moved to annual prepaid contracts</a:t>
            </a:r>
          </a:p>
          <a:p>
            <a:pPr>
              <a:spcAft>
                <a:spcPts val="400"/>
              </a:spcAft>
              <a:defRPr sz="1400" b="0">
                <a:solidFill>
                  <a:srgbClr val="555555"/>
                </a:solidFill>
                <a:latin typeface="Calibri"/>
              </a:defRPr>
            </a:pPr>
            <a:r>
              <a:t>   → Revenue deferred to Q1 FY2026</a:t>
            </a:r>
          </a:p>
          <a:p>
            <a:pPr>
              <a:spcAft>
                <a:spcPts val="400"/>
              </a:spcAft>
              <a:defRPr sz="1600">
                <a:solidFill>
                  <a:srgbClr val="2D2D2D"/>
                </a:solidFill>
                <a:latin typeface="Calibri"/>
              </a:defRPr>
            </a:pPr>
          </a:p>
          <a:p>
            <a:pPr>
              <a:spcAft>
                <a:spcPts val="400"/>
              </a:spcAft>
              <a:defRPr sz="1600">
                <a:solidFill>
                  <a:srgbClr val="2D2D2D"/>
                </a:solidFill>
                <a:latin typeface="Calibri"/>
              </a:defRPr>
            </a:pPr>
            <a:r>
              <a:t>2. Product Sunset (Legacy Analytics): –$50K</a:t>
            </a:r>
          </a:p>
          <a:p>
            <a:pPr>
              <a:spcAft>
                <a:spcPts val="400"/>
              </a:spcAft>
              <a:defRPr sz="1400" b="0">
                <a:solidFill>
                  <a:srgbClr val="555555"/>
                </a:solidFill>
                <a:latin typeface="Calibri"/>
              </a:defRPr>
            </a:pPr>
            <a:r>
              <a:t>   → Planned deprecation of low-margin add-on</a:t>
            </a:r>
          </a:p>
          <a:p>
            <a:pPr>
              <a:spcAft>
                <a:spcPts val="400"/>
              </a:spcAft>
              <a:defRPr sz="1400" b="0">
                <a:solidFill>
                  <a:srgbClr val="555555"/>
                </a:solidFill>
                <a:latin typeface="Calibri"/>
              </a:defRPr>
            </a:pPr>
            <a:r>
              <a:t>   → 70% of affected users migrated to core platform</a:t>
            </a:r>
          </a:p>
          <a:p>
            <a:pPr>
              <a:spcAft>
                <a:spcPts val="400"/>
              </a:spcAft>
              <a:defRPr sz="1600">
                <a:solidFill>
                  <a:srgbClr val="2D2D2D"/>
                </a:solidFill>
                <a:latin typeface="Calibri"/>
              </a:defRPr>
            </a:pPr>
          </a:p>
          <a:p>
            <a:pPr>
              <a:spcAft>
                <a:spcPts val="400"/>
              </a:spcAft>
              <a:defRPr sz="1600">
                <a:solidFill>
                  <a:srgbClr val="2D2D2D"/>
                </a:solidFill>
                <a:latin typeface="Calibri"/>
              </a:defRPr>
            </a:pPr>
            <a:r>
              <a:t>3. SMB Churn Impact: –$90K</a:t>
            </a:r>
          </a:p>
          <a:p>
            <a:pPr>
              <a:spcAft>
                <a:spcPts val="400"/>
              </a:spcAft>
              <a:defRPr sz="1400" b="0">
                <a:solidFill>
                  <a:srgbClr val="555555"/>
                </a:solidFill>
                <a:latin typeface="Calibri"/>
              </a:defRPr>
            </a:pPr>
            <a:r>
              <a:t>   → Higher-than-expected SMB losses</a:t>
            </a:r>
          </a:p>
          <a:p>
            <a:pPr>
              <a:spcAft>
                <a:spcPts val="400"/>
              </a:spcAft>
              <a:defRPr sz="1400" b="0">
                <a:solidFill>
                  <a:srgbClr val="555555"/>
                </a:solidFill>
                <a:latin typeface="Calibri"/>
              </a:defRPr>
            </a:pPr>
            <a:r>
              <a:t>   → Partially offset by +$120K in enterprise upsells</a:t>
            </a:r>
          </a:p>
        </p:txBody>
      </p:sp>
      <p:sp>
        <p:nvSpPr>
          <p:cNvPr id="4" name="TextBox 3"/>
          <p:cNvSpPr txBox="1"/>
          <p:nvPr/>
        </p:nvSpPr>
        <p:spPr>
          <a:xfrm>
            <a:off x="640080" y="5486400"/>
            <a:ext cx="786384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The Q4 dip is fully explainable — $180K is deferred (not lost) and structural actions improve long-term margins.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7863840" cy="822960"/>
          </a:xfrm>
          <a:prstGeom prst="rect">
            <a:avLst/>
          </a:prstGeom>
          <a:noFill/>
        </p:spPr>
        <p:txBody>
          <a:bodyPr wrap="square">
            <a:spAutoFit/>
          </a:bodyPr>
          <a:lstStyle/>
          <a:p>
            <a:pPr>
              <a:defRPr sz="3200" b="1">
                <a:solidFill>
                  <a:srgbClr val="1B3A5C"/>
                </a:solidFill>
                <a:latin typeface="Calibri"/>
              </a:defRPr>
            </a:pPr>
            <a:r>
              <a:t>FY2026 Outlook &amp; Guidance</a:t>
            </a:r>
          </a:p>
        </p:txBody>
      </p:sp>
      <p:sp>
        <p:nvSpPr>
          <p:cNvPr id="3" name="TextBox 2"/>
          <p:cNvSpPr txBox="1"/>
          <p:nvPr/>
        </p:nvSpPr>
        <p:spPr>
          <a:xfrm>
            <a:off x="640080" y="1463040"/>
            <a:ext cx="7863840" cy="3657600"/>
          </a:xfrm>
          <a:prstGeom prst="rect">
            <a:avLst/>
          </a:prstGeom>
          <a:noFill/>
        </p:spPr>
        <p:txBody>
          <a:bodyPr wrap="square">
            <a:spAutoFit/>
          </a:bodyPr>
          <a:lstStyle/>
          <a:p>
            <a:pPr>
              <a:spcAft>
                <a:spcPts val="400"/>
              </a:spcAft>
              <a:defRPr sz="1600">
                <a:solidFill>
                  <a:srgbClr val="2D2D2D"/>
                </a:solidFill>
                <a:latin typeface="Calibri"/>
              </a:defRPr>
            </a:pPr>
            <a:r>
              <a:t>FY2026 Guidance:</a:t>
            </a:r>
          </a:p>
          <a:p>
            <a:pPr>
              <a:spcAft>
                <a:spcPts val="400"/>
              </a:spcAft>
              <a:defRPr sz="1600">
                <a:solidFill>
                  <a:srgbClr val="2D2D2D"/>
                </a:solidFill>
                <a:latin typeface="Calibri"/>
              </a:defRPr>
            </a:pPr>
          </a:p>
          <a:p>
            <a:pPr>
              <a:spcAft>
                <a:spcPts val="400"/>
              </a:spcAft>
              <a:defRPr sz="1600" b="1">
                <a:solidFill>
                  <a:srgbClr val="2D2D2D"/>
                </a:solidFill>
                <a:latin typeface="Calibri"/>
              </a:defRPr>
            </a:pPr>
            <a:r>
              <a:t>• Revenue: $13.5M – $14.2M (+20–27% YoY)</a:t>
            </a:r>
          </a:p>
          <a:p>
            <a:pPr>
              <a:spcAft>
                <a:spcPts val="400"/>
              </a:spcAft>
              <a:defRPr sz="1600" b="1">
                <a:solidFill>
                  <a:srgbClr val="2D2D2D"/>
                </a:solidFill>
                <a:latin typeface="Calibri"/>
              </a:defRPr>
            </a:pPr>
            <a:r>
              <a:t>• Q1 FY2026 Revenue: $3.3M – $3.5M</a:t>
            </a:r>
          </a:p>
          <a:p>
            <a:pPr>
              <a:spcAft>
                <a:spcPts val="400"/>
              </a:spcAft>
              <a:defRPr sz="1600" b="1">
                <a:solidFill>
                  <a:srgbClr val="2D2D2D"/>
                </a:solidFill>
                <a:latin typeface="Calibri"/>
              </a:defRPr>
            </a:pPr>
            <a:r>
              <a:t>• Gross Margin Target: 75–77%</a:t>
            </a:r>
          </a:p>
          <a:p>
            <a:pPr>
              <a:spcAft>
                <a:spcPts val="400"/>
              </a:spcAft>
              <a:defRPr sz="1600" b="1">
                <a:solidFill>
                  <a:srgbClr val="2D2D2D"/>
                </a:solidFill>
                <a:latin typeface="Calibri"/>
              </a:defRPr>
            </a:pPr>
            <a:r>
              <a:t>• Churn Reduction Target: –2pp by Q2 FY2026</a:t>
            </a:r>
          </a:p>
          <a:p>
            <a:pPr>
              <a:spcAft>
                <a:spcPts val="400"/>
              </a:spcAft>
              <a:defRPr sz="1600" b="1">
                <a:solidFill>
                  <a:srgbClr val="2D2D2D"/>
                </a:solidFill>
                <a:latin typeface="Calibri"/>
              </a:defRPr>
            </a:pPr>
            <a:r>
              <a:t>• Planned Headcount Additions: 18 (Sales, Engineering, CS)</a:t>
            </a:r>
          </a:p>
          <a:p>
            <a:pPr>
              <a:spcAft>
                <a:spcPts val="400"/>
              </a:spcAft>
              <a:defRPr sz="1600" b="1">
                <a:solidFill>
                  <a:srgbClr val="2D2D2D"/>
                </a:solidFill>
                <a:latin typeface="Calibri"/>
              </a:defRPr>
            </a:pPr>
            <a:r>
              <a:t>• Product Launches: AI-powered analytics (Q2), Mobile app (Q3)</a:t>
            </a:r>
          </a:p>
          <a:p>
            <a:pPr>
              <a:spcAft>
                <a:spcPts val="400"/>
              </a:spcAft>
              <a:defRPr sz="1600" b="1">
                <a:solidFill>
                  <a:srgbClr val="2D2D2D"/>
                </a:solidFill>
                <a:latin typeface="Calibri"/>
              </a:defRPr>
            </a:pPr>
            <a:r>
              <a:t>• Expected ARR exit rate: $14.5M+</a:t>
            </a:r>
          </a:p>
        </p:txBody>
      </p:sp>
      <p:sp>
        <p:nvSpPr>
          <p:cNvPr id="4" name="TextBox 3"/>
          <p:cNvSpPr txBox="1"/>
          <p:nvPr/>
        </p:nvSpPr>
        <p:spPr>
          <a:xfrm>
            <a:off x="640080" y="5486400"/>
            <a:ext cx="786384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FY2026 guidance of $13.5–14.2M reflects confidence in deferred revenue conversion and churn reduction.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640080" y="548640"/>
            <a:ext cx="7863840" cy="822960"/>
          </a:xfrm>
          <a:prstGeom prst="rect">
            <a:avLst/>
          </a:prstGeom>
          <a:noFill/>
        </p:spPr>
        <p:txBody>
          <a:bodyPr wrap="square">
            <a:spAutoFit/>
          </a:bodyPr>
          <a:lstStyle/>
          <a:p>
            <a:pPr>
              <a:defRPr sz="3600" b="1">
                <a:solidFill>
                  <a:srgbClr val="FFFFFF"/>
                </a:solidFill>
                <a:latin typeface="Calibri"/>
              </a:defRPr>
            </a:pPr>
            <a:r>
              <a:t>Thank You &amp; Q&amp;A</a:t>
            </a:r>
          </a:p>
        </p:txBody>
      </p:sp>
      <p:sp>
        <p:nvSpPr>
          <p:cNvPr id="3" name="TextBox 2"/>
          <p:cNvSpPr txBox="1"/>
          <p:nvPr/>
        </p:nvSpPr>
        <p:spPr>
          <a:xfrm>
            <a:off x="640080" y="1645920"/>
            <a:ext cx="7863840" cy="3657600"/>
          </a:xfrm>
          <a:prstGeom prst="rect">
            <a:avLst/>
          </a:prstGeom>
          <a:noFill/>
        </p:spPr>
        <p:txBody>
          <a:bodyPr wrap="square">
            <a:spAutoFit/>
          </a:bodyPr>
          <a:lstStyle/>
          <a:p>
            <a:pPr>
              <a:spcAft>
                <a:spcPts val="400"/>
              </a:spcAft>
              <a:defRPr sz="1400">
                <a:solidFill>
                  <a:srgbClr val="CCDDEE"/>
                </a:solidFill>
                <a:latin typeface="Calibri"/>
              </a:defRPr>
            </a:pPr>
            <a:r>
              <a:t>SaaSCo Inc. — Q4 FY2025 Earnings</a:t>
            </a:r>
          </a:p>
          <a:p>
            <a:pPr>
              <a:spcAft>
                <a:spcPts val="400"/>
              </a:spcAft>
              <a:defRPr sz="1400">
                <a:solidFill>
                  <a:srgbClr val="CCDDEE"/>
                </a:solidFill>
                <a:latin typeface="Calibri"/>
              </a:defRPr>
            </a:pPr>
          </a:p>
          <a:p>
            <a:pPr>
              <a:spcAft>
                <a:spcPts val="400"/>
              </a:spcAft>
              <a:defRPr sz="1400">
                <a:solidFill>
                  <a:srgbClr val="CCDDEE"/>
                </a:solidFill>
                <a:latin typeface="Calibri"/>
              </a:defRPr>
            </a:pPr>
            <a:r>
              <a:t>Contact:</a:t>
            </a:r>
          </a:p>
          <a:p>
            <a:pPr>
              <a:spcAft>
                <a:spcPts val="400"/>
              </a:spcAft>
              <a:defRPr sz="1400">
                <a:solidFill>
                  <a:srgbClr val="CCDDEE"/>
                </a:solidFill>
                <a:latin typeface="Calibri"/>
              </a:defRPr>
            </a:pPr>
            <a:r>
              <a:t>  Investor Relations: ir@saasco.com</a:t>
            </a:r>
          </a:p>
          <a:p>
            <a:pPr>
              <a:spcAft>
                <a:spcPts val="400"/>
              </a:spcAft>
              <a:defRPr sz="1400">
                <a:solidFill>
                  <a:srgbClr val="CCDDEE"/>
                </a:solidFill>
                <a:latin typeface="Calibri"/>
              </a:defRPr>
            </a:pPr>
            <a:r>
              <a:t>  CFO Office: cfo@saasco.com</a:t>
            </a:r>
          </a:p>
          <a:p>
            <a:pPr>
              <a:spcAft>
                <a:spcPts val="400"/>
              </a:spcAft>
              <a:defRPr sz="1400">
                <a:solidFill>
                  <a:srgbClr val="CCDDEE"/>
                </a:solidFill>
                <a:latin typeface="Calibri"/>
              </a:defRPr>
            </a:pPr>
          </a:p>
          <a:p>
            <a:pPr>
              <a:spcAft>
                <a:spcPts val="400"/>
              </a:spcAft>
              <a:defRPr sz="1400">
                <a:solidFill>
                  <a:srgbClr val="CCDDEE"/>
                </a:solidFill>
                <a:latin typeface="Calibri"/>
              </a:defRPr>
            </a:pPr>
            <a:r>
              <a:t>Upcoming Dates:</a:t>
            </a:r>
          </a:p>
          <a:p>
            <a:pPr>
              <a:spcAft>
                <a:spcPts val="400"/>
              </a:spcAft>
              <a:defRPr sz="1400">
                <a:solidFill>
                  <a:srgbClr val="CCDDEE"/>
                </a:solidFill>
                <a:latin typeface="Calibri"/>
              </a:defRPr>
            </a:pPr>
            <a:r>
              <a:t>  • Q1 FY2026 Earnings: April 15, 2026</a:t>
            </a:r>
          </a:p>
          <a:p>
            <a:pPr>
              <a:spcAft>
                <a:spcPts val="400"/>
              </a:spcAft>
              <a:defRPr sz="1400">
                <a:solidFill>
                  <a:srgbClr val="CCDDEE"/>
                </a:solidFill>
                <a:latin typeface="Calibri"/>
              </a:defRPr>
            </a:pPr>
            <a:r>
              <a:t>  • Annual Shareholder Meeting: May 20, 2026</a:t>
            </a:r>
          </a:p>
          <a:p>
            <a:pPr>
              <a:spcAft>
                <a:spcPts val="400"/>
              </a:spcAft>
              <a:defRPr sz="1400">
                <a:solidFill>
                  <a:srgbClr val="CCDDEE"/>
                </a:solidFill>
                <a:latin typeface="Calibri"/>
              </a:defRPr>
            </a:pPr>
            <a:r>
              <a:t>  • Investor Day: June 10, 2026</a:t>
            </a:r>
          </a:p>
          <a:p>
            <a:pPr>
              <a:spcAft>
                <a:spcPts val="400"/>
              </a:spcAft>
              <a:defRPr sz="1400">
                <a:solidFill>
                  <a:srgbClr val="CCDDEE"/>
                </a:solidFill>
                <a:latin typeface="Calibri"/>
              </a:defRPr>
            </a:pPr>
          </a:p>
          <a:p>
            <a:pPr>
              <a:spcAft>
                <a:spcPts val="400"/>
              </a:spcAft>
              <a:defRPr sz="1400">
                <a:solidFill>
                  <a:srgbClr val="CCDDEE"/>
                </a:solidFill>
                <a:latin typeface="Calibri"/>
              </a:defRPr>
            </a:pPr>
            <a:r>
              <a:t>Forward-looking statements in this presentation are subject to risks</a:t>
            </a:r>
          </a:p>
          <a:p>
            <a:pPr>
              <a:spcAft>
                <a:spcPts val="400"/>
              </a:spcAft>
              <a:defRPr sz="1400">
                <a:solidFill>
                  <a:srgbClr val="CCDDEE"/>
                </a:solidFill>
                <a:latin typeface="Calibri"/>
              </a:defRPr>
            </a:pPr>
            <a:r>
              <a:t>and uncertainties. See our SEC filings for details.</a:t>
            </a:r>
          </a:p>
        </p:txBody>
      </p:sp>
      <p:sp>
        <p:nvSpPr>
          <p:cNvPr id="4" name="TextBox 3"/>
          <p:cNvSpPr txBox="1"/>
          <p:nvPr/>
        </p:nvSpPr>
        <p:spPr>
          <a:xfrm>
            <a:off x="640080" y="5303520"/>
            <a:ext cx="786384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We're committed to transparent communication — the Q4 dip reflects strategic repositioning, not fundamental weakness.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