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Quarterly Revenue ($M)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($M)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2.4</c:v>
                </c:pt>
                <c:pt idx="1">
                  <c:v>2.8</c:v>
                </c:pt>
                <c:pt idx="2">
                  <c:v>3.1</c:v>
                </c:pt>
                <c:pt idx="3">
                  <c:v>2.9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3.5"/>
          <c:min val="0.0"/>
        </c:scaling>
        <c:delete val="0"/>
        <c:axPos val="l"/>
        <c:majorGridlines/>
        <c:majorTickMark val="out"/>
        <c:minorTickMark val="none"/>
        <c:tickLblPos val="nextTo"/>
        <c:crossAx val="-2068027336"/>
        <c:crosses val="autoZero"/>
        <c:majorUnit val="0.5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r>
              <a:t>Q4 Churn: Baseline vs Incremental Increase</a:t>
            </a:r>
          </a:p>
        </c:rich>
      </c:tx>
      <c:layout/>
      <c:overlay val="0"/>
    </c:title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Churn (%)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Baseline churn</c:v>
                </c:pt>
                <c:pt idx="1">
                  <c:v>Q4 increase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96.0</c:v>
                </c:pt>
                <c:pt idx="1">
                  <c:v>4.0</c:v>
                </c:pt>
              </c:numCache>
            </c:numRef>
          </c:val>
        </c:ser>
      </c:pieChart>
    </c:plotArea>
    <c:legend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CFO Speaker Notes (read verbatim):</a:t>
            </a:r>
          </a:p>
          <a:p>
            <a:r>
              <a:t>Q4 revenue dipped to $2.9M from $3.1M in Q3 (down $0.2M QoQ). This is primarily driven by renewal timing and a churn uptick that accelerated late in the quarter. Importantly, underlying demand and pipeline remain healthy; our focus is executing churn-reduction actions and pulling forward renewals to return to the prior run-rate.</a:t>
            </a:r>
          </a:p>
          <a:p/>
          <a:p>
            <a:r>
              <a:t>Key actions: tighten renewal forecasting, deploy targeted save plays for at-risk accounts, and prioritize product/CS fixes that directly reduce churn.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CFO Speaker Notes (read verbatim):</a:t>
            </a:r>
          </a:p>
          <a:p>
            <a:r>
              <a:t>Q4 revenue dipped to $2.9M from $3.1M in Q3 (down $0.2M QoQ). This is primarily driven by renewal timing and a churn uptick that accelerated late in the quarter. Importantly, underlying demand and pipeline remain healthy; our focus is executing churn-reduction actions and pulling forward renewals to return to the prior run-rate.</a:t>
            </a:r>
          </a:p>
          <a:p/>
          <a:p>
            <a:r>
              <a:t>Key actions: tighten renewal forecasting, deploy targeted save plays for at-risk accounts, and prioritize product/CS fixes that directly reduce churn.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CFO Speaker Notes (read verbatim):</a:t>
            </a:r>
          </a:p>
          <a:p>
            <a:r>
              <a:t>Q4 revenue dipped to $2.9M from $3.1M in Q3 (down $0.2M QoQ). This is primarily driven by renewal timing and a churn uptick that accelerated late in the quarter. Importantly, underlying demand and pipeline remain healthy; our focus is executing churn-reduction actions and pulling forward renewals to return to the prior run-rate.</a:t>
            </a:r>
          </a:p>
          <a:p/>
          <a:p>
            <a:r>
              <a:t>Key actions: tighten renewal forecasting, deploy targeted save plays for at-risk accounts, and prioritize product/CS fixes that directly reduce churn.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CFO Speaker Notes (read verbatim):</a:t>
            </a:r>
          </a:p>
          <a:p>
            <a:r>
              <a:t>Q4 revenue dipped to $2.9M from $3.1M in Q3 (down $0.2M QoQ). This is primarily driven by renewal timing and a churn uptick that accelerated late in the quarter. Importantly, underlying demand and pipeline remain healthy; our focus is executing churn-reduction actions and pulling forward renewals to return to the prior run-rate.</a:t>
            </a:r>
          </a:p>
          <a:p/>
          <a:p>
            <a:r>
              <a:t>Key actions: tighten renewal forecasting, deploy targeted save plays for at-risk accounts, and prioritize product/CS fixes that directly reduce churn.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CFO Speaker Notes (read verbatim):</a:t>
            </a:r>
          </a:p>
          <a:p>
            <a:r>
              <a:t>Q4 revenue dipped to $2.9M from $3.1M in Q3 (down $0.2M QoQ). This is primarily driven by renewal timing and a churn uptick that accelerated late in the quarter. Importantly, underlying demand and pipeline remain healthy; our focus is executing churn-reduction actions and pulling forward renewals to return to the prior run-rate.</a:t>
            </a:r>
          </a:p>
          <a:p/>
          <a:p>
            <a:r>
              <a:t>Key actions: tighten renewal forecasting, deploy targeted save plays for at-risk accounts, and prioritize product/CS fixes that directly reduce churn.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CFO Speaker Notes (read verbatim):</a:t>
            </a:r>
          </a:p>
          <a:p>
            <a:r>
              <a:t>Q4 revenue dipped to $2.9M from $3.1M in Q3 (down $0.2M QoQ). This is primarily driven by renewal timing and a churn uptick that accelerated late in the quarter. Importantly, underlying demand and pipeline remain healthy; our focus is executing churn-reduction actions and pulling forward renewals to return to the prior run-rate.</a:t>
            </a:r>
          </a:p>
          <a:p/>
          <a:p>
            <a:r>
              <a:t>Key actions: tighten renewal forecasting, deploy targeted save plays for at-risk accounts, and prioritize product/CS fixes that directly reduce churn.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CFO Speaker Notes (read verbatim):</a:t>
            </a:r>
          </a:p>
          <a:p>
            <a:r>
              <a:t>Q4 revenue dipped to $2.9M from $3.1M in Q3 (down $0.2M QoQ). This is primarily driven by renewal timing and a churn uptick that accelerated late in the quarter. Importantly, underlying demand and pipeline remain healthy; our focus is executing churn-reduction actions and pulling forward renewals to return to the prior run-rate.</a:t>
            </a:r>
          </a:p>
          <a:p/>
          <a:p>
            <a:r>
              <a:t>Key actions: tighten renewal forecasting, deploy targeted save plays for at-risk accounts, and prioritize product/CS fixes that directly reduce churn.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CFO Speaker Notes (read verbatim):</a:t>
            </a:r>
          </a:p>
          <a:p>
            <a:r>
              <a:t>Q4 revenue dipped to $2.9M from $3.1M in Q3 (down $0.2M QoQ). This is primarily driven by renewal timing and a churn uptick that accelerated late in the quarter. Importantly, underlying demand and pipeline remain healthy; our focus is executing churn-reduction actions and pulling forward renewals to return to the prior run-rate.</a:t>
            </a:r>
          </a:p>
          <a:p/>
          <a:p>
            <a:r>
              <a:t>Key actions: tighten renewal forecasting, deploy targeted save plays for at-risk accounts, and prioritize product/CS fixes that directly reduce churn.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chart" Target="../charts/char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1">
                <a:solidFill>
                  <a:srgbClr val="1C2833"/>
                </a:solidFill>
              </a:rPr>
              <a:t>Q4 Quarterly Earnings — AcmeCloud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212F3D"/>
                </a:solidFill>
              </a:defRPr>
            </a:pPr>
            <a:r>
              <a:t>Quarterly performance summary and CFO commentary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035040"/>
            <a:ext cx="11064240" cy="640080"/>
          </a:xfrm>
          <a:prstGeom prst="rect">
            <a:avLst/>
          </a:prstGeom>
          <a:solidFill>
            <a:srgbClr val="ECF0F1"/>
          </a:solidFill>
          <a:ln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b="1" sz="1800">
                <a:solidFill>
                  <a:srgbClr val="2C3E50"/>
                </a:solidFill>
              </a:rPr>
              <a:t>Key Takeaway: </a:t>
            </a:r>
            <a:r>
              <a:rPr sz="1800">
                <a:solidFill>
                  <a:srgbClr val="2C3E50"/>
                </a:solidFill>
              </a:rPr>
              <a:t>Q4 revenue dipped modestly vs Q3; churn is the key near-term lever.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1">
                <a:solidFill>
                  <a:srgbClr val="1C2833"/>
                </a:solidFill>
              </a:rPr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212F3D"/>
                </a:solidFill>
              </a:defRPr>
            </a:pPr>
            <a:r>
              <a:t>• Revenue grew through Q3 then dipped in Q4</a:t>
            </a:r>
          </a:p>
          <a:p>
            <a:pPr>
              <a:defRPr sz="2000">
                <a:solidFill>
                  <a:srgbClr val="212F3D"/>
                </a:solidFill>
              </a:defRPr>
            </a:pPr>
            <a:r>
              <a:t>• Q4 revenue: $2.9M vs $3.1M in Q3</a:t>
            </a:r>
          </a:p>
          <a:p>
            <a:pPr>
              <a:defRPr sz="2000">
                <a:solidFill>
                  <a:srgbClr val="212F3D"/>
                </a:solidFill>
              </a:defRPr>
            </a:pPr>
            <a:r>
              <a:t>• Customer churn increased by 4% in Q4</a:t>
            </a:r>
          </a:p>
          <a:p>
            <a:pPr>
              <a:defRPr sz="2000">
                <a:solidFill>
                  <a:srgbClr val="212F3D"/>
                </a:solidFill>
              </a:defRPr>
            </a:pPr>
            <a:r>
              <a:t>• Focus: churn remediation + renewal execution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035040"/>
            <a:ext cx="11064240" cy="640080"/>
          </a:xfrm>
          <a:prstGeom prst="rect">
            <a:avLst/>
          </a:prstGeom>
          <a:solidFill>
            <a:srgbClr val="ECF0F1"/>
          </a:solidFill>
          <a:ln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b="1" sz="1800">
                <a:solidFill>
                  <a:srgbClr val="2C3E50"/>
                </a:solidFill>
              </a:rPr>
              <a:t>Key Takeaway: </a:t>
            </a:r>
            <a:r>
              <a:rPr sz="1800">
                <a:solidFill>
                  <a:srgbClr val="2C3E50"/>
                </a:solidFill>
              </a:rPr>
              <a:t>Churn reduction and renewal discipline are the fastest path back to Q3 run-rate.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1">
                <a:solidFill>
                  <a:srgbClr val="1C2833"/>
                </a:solidFill>
              </a:rPr>
              <a:t>Revenue by Quarter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212F3D"/>
                </a:solidFill>
              </a:defRPr>
            </a:pPr>
            <a:r>
              <a:t>(See chart)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035040"/>
            <a:ext cx="11064240" cy="640080"/>
          </a:xfrm>
          <a:prstGeom prst="rect">
            <a:avLst/>
          </a:prstGeom>
          <a:solidFill>
            <a:srgbClr val="ECF0F1"/>
          </a:solidFill>
          <a:ln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b="1" sz="1800">
                <a:solidFill>
                  <a:srgbClr val="2C3E50"/>
                </a:solidFill>
              </a:rPr>
              <a:t>Key Takeaway: </a:t>
            </a:r>
            <a:r>
              <a:rPr sz="1800">
                <a:solidFill>
                  <a:srgbClr val="2C3E50"/>
                </a:solidFill>
              </a:rPr>
              <a:t>Q4 decreased $0.2M QoQ; prioritize retention + expansion to reverse.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914400" y="1371600"/>
          <a:ext cx="10607040" cy="42976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1">
                <a:solidFill>
                  <a:srgbClr val="1C2833"/>
                </a:solidFill>
              </a:rPr>
              <a:t>Q4 Revenue Dip — Drivers &amp; Context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212F3D"/>
                </a:solidFill>
              </a:defRPr>
            </a:pPr>
            <a:r>
              <a:t>• Renewal timing shifted into early Q1</a:t>
            </a:r>
          </a:p>
          <a:p>
            <a:pPr>
              <a:defRPr sz="2000">
                <a:solidFill>
                  <a:srgbClr val="212F3D"/>
                </a:solidFill>
              </a:defRPr>
            </a:pPr>
            <a:r>
              <a:t>• Late-quarter churn uptick impacted net revenue</a:t>
            </a:r>
          </a:p>
          <a:p>
            <a:pPr>
              <a:defRPr sz="2000">
                <a:solidFill>
                  <a:srgbClr val="212F3D"/>
                </a:solidFill>
              </a:defRPr>
            </a:pPr>
            <a:r>
              <a:t>• Seasonal purchasing patterns affected expansion deals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035040"/>
            <a:ext cx="11064240" cy="640080"/>
          </a:xfrm>
          <a:prstGeom prst="rect">
            <a:avLst/>
          </a:prstGeom>
          <a:solidFill>
            <a:srgbClr val="ECF0F1"/>
          </a:solidFill>
          <a:ln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b="1" sz="1800">
                <a:solidFill>
                  <a:srgbClr val="2C3E50"/>
                </a:solidFill>
              </a:rPr>
              <a:t>Key Takeaway: </a:t>
            </a:r>
            <a:r>
              <a:rPr sz="1800">
                <a:solidFill>
                  <a:srgbClr val="2C3E50"/>
                </a:solidFill>
              </a:rPr>
              <a:t>Signals point to timing and churn effects more than demand deterioration.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1">
                <a:solidFill>
                  <a:srgbClr val="1C2833"/>
                </a:solidFill>
              </a:rPr>
              <a:t>Churn Breakdown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212F3D"/>
                </a:solidFill>
              </a:defRPr>
            </a:pPr>
            <a:r>
              <a:t>(See chart)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035040"/>
            <a:ext cx="11064240" cy="640080"/>
          </a:xfrm>
          <a:prstGeom prst="rect">
            <a:avLst/>
          </a:prstGeom>
          <a:solidFill>
            <a:srgbClr val="ECF0F1"/>
          </a:solidFill>
          <a:ln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b="1" sz="1800">
                <a:solidFill>
                  <a:srgbClr val="2C3E50"/>
                </a:solidFill>
              </a:rPr>
              <a:t>Key Takeaway: </a:t>
            </a:r>
            <a:r>
              <a:rPr sz="1800">
                <a:solidFill>
                  <a:srgbClr val="2C3E50"/>
                </a:solidFill>
              </a:rPr>
              <a:t>The incremental 4% churn increase is the controllable gap to close.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1828800" y="1463040"/>
          <a:ext cx="8778240" cy="43891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1">
                <a:solidFill>
                  <a:srgbClr val="1C2833"/>
                </a:solidFill>
              </a:rPr>
              <a:t>Churn Mitigation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212F3D"/>
                </a:solidFill>
              </a:defRPr>
            </a:pPr>
            <a:r>
              <a:t>• Targeted save plays for top at-risk accounts</a:t>
            </a:r>
          </a:p>
          <a:p>
            <a:pPr>
              <a:defRPr sz="2000">
                <a:solidFill>
                  <a:srgbClr val="212F3D"/>
                </a:solidFill>
              </a:defRPr>
            </a:pPr>
            <a:r>
              <a:t>• Increase CS coverage for renewals</a:t>
            </a:r>
          </a:p>
          <a:p>
            <a:pPr>
              <a:defRPr sz="2000">
                <a:solidFill>
                  <a:srgbClr val="212F3D"/>
                </a:solidFill>
              </a:defRPr>
            </a:pPr>
            <a:r>
              <a:t>• Address top churn drivers via product fixes</a:t>
            </a:r>
          </a:p>
          <a:p>
            <a:pPr>
              <a:defRPr sz="2000">
                <a:solidFill>
                  <a:srgbClr val="212F3D"/>
                </a:solidFill>
              </a:defRPr>
            </a:pPr>
            <a:r>
              <a:t>• Improve onboarding and time-to-value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035040"/>
            <a:ext cx="11064240" cy="640080"/>
          </a:xfrm>
          <a:prstGeom prst="rect">
            <a:avLst/>
          </a:prstGeom>
          <a:solidFill>
            <a:srgbClr val="ECF0F1"/>
          </a:solidFill>
          <a:ln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b="1" sz="1800">
                <a:solidFill>
                  <a:srgbClr val="2C3E50"/>
                </a:solidFill>
              </a:rPr>
              <a:t>Key Takeaway: </a:t>
            </a:r>
            <a:r>
              <a:rPr sz="1800">
                <a:solidFill>
                  <a:srgbClr val="2C3E50"/>
                </a:solidFill>
              </a:rPr>
              <a:t>Reducing incremental churn is the highest-ROI action to stabilize revenue.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1">
                <a:solidFill>
                  <a:srgbClr val="1C2833"/>
                </a:solidFill>
              </a:rPr>
              <a:t>Q1 Outlook &amp; Targets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212F3D"/>
                </a:solidFill>
              </a:defRPr>
            </a:pPr>
            <a:r>
              <a:t>• Pull forward renewals delayed from Q4</a:t>
            </a:r>
          </a:p>
          <a:p>
            <a:pPr>
              <a:defRPr sz="2000">
                <a:solidFill>
                  <a:srgbClr val="212F3D"/>
                </a:solidFill>
              </a:defRPr>
            </a:pPr>
            <a:r>
              <a:t>• Focus on expansion in healthiest segments</a:t>
            </a:r>
          </a:p>
          <a:p>
            <a:pPr>
              <a:defRPr sz="2000">
                <a:solidFill>
                  <a:srgbClr val="212F3D"/>
                </a:solidFill>
              </a:defRPr>
            </a:pPr>
            <a:r>
              <a:t>• Track churn weekly with executive visibility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035040"/>
            <a:ext cx="11064240" cy="640080"/>
          </a:xfrm>
          <a:prstGeom prst="rect">
            <a:avLst/>
          </a:prstGeom>
          <a:solidFill>
            <a:srgbClr val="ECF0F1"/>
          </a:solidFill>
          <a:ln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b="1" sz="1800">
                <a:solidFill>
                  <a:srgbClr val="2C3E50"/>
                </a:solidFill>
              </a:rPr>
              <a:t>Key Takeaway: </a:t>
            </a:r>
            <a:r>
              <a:rPr sz="1800">
                <a:solidFill>
                  <a:srgbClr val="2C3E50"/>
                </a:solidFill>
              </a:rPr>
              <a:t>With churn improvements, we expect revenue to trend back toward $3.1M+.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1">
                <a:solidFill>
                  <a:srgbClr val="1C2833"/>
                </a:solidFill>
              </a:rPr>
              <a:t>Closing / Q&amp;A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212F3D"/>
                </a:solidFill>
              </a:defRPr>
            </a:pPr>
            <a:r>
              <a:t>Thank you.</a:t>
            </a:r>
          </a:p>
          <a:p>
            <a:pPr>
              <a:defRPr sz="2000">
                <a:solidFill>
                  <a:srgbClr val="212F3D"/>
                </a:solidFill>
              </a:defRPr>
            </a:pPr>
            <a:r>
              <a:t>Questions?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035040"/>
            <a:ext cx="11064240" cy="640080"/>
          </a:xfrm>
          <a:prstGeom prst="rect">
            <a:avLst/>
          </a:prstGeom>
          <a:solidFill>
            <a:srgbClr val="ECF0F1"/>
          </a:solidFill>
          <a:ln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b="1" sz="1800">
                <a:solidFill>
                  <a:srgbClr val="2C3E50"/>
                </a:solidFill>
              </a:rPr>
              <a:t>Key Takeaway: </a:t>
            </a:r>
            <a:r>
              <a:rPr sz="1800">
                <a:solidFill>
                  <a:srgbClr val="2C3E50"/>
                </a:solidFill>
              </a:rPr>
              <a:t>We have a clear plan to address churn and restore growth momentum.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