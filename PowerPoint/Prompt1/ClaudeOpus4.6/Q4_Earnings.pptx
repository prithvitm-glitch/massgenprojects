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2.8</c:v>
                </c:pt>
                <c:pt idx="2">
                  <c:v>3.1</c:v>
                </c:pt>
                <c:pt idx="3">
                  <c:v>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Stable Customers (96%)</c:v>
                </c:pt>
                <c:pt idx="1">
                  <c:v>Increased Churn (4%)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CFO, I want to address the Q4 revenue dip directly. While revenue reached $2.9M, slightly below Q3's $3.1M, this was primarily driven by a 4% increase in customer churn. We are actively implementing retention strategies to stabilize growth moving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growth was consistent from Q1 through Q3. The Q4 dip reflects churn-related revenue pressure rather than demand weakness.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bar chart illustrates strong growth through Q3, followed by a modest decline in Q4. This 6.5% quarter-over-quarter dip is directly correlated with increased churn.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 increased by 4% in Q4, impacting recurring revenue streams. We are reviewing renewal incentives and pricing 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Although churn represents only 4% of customers, its impact on ARR is amplified due to concentration in higher-value accounts.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$0.2M revenue decline highlights sensitivity to churn in subscription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implementing proactive engagement strategies to restore growth trajectory.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Q4 reflects a temporary setback, our SaaS fundamentals remain strong. Retention and operational adjustments will support renewed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069080" y="7315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Earnings Report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Company  |  Quarterly Financial Overview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371600" y="3931920"/>
            <a:ext cx="64008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3931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Q4 revenue dipped slightly, with churn increase impacting growth.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Revenue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192024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$2.4M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606040" y="128016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06040" y="1280160"/>
            <a:ext cx="19202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$2.8M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60604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16.7% QoQ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80160"/>
            <a:ext cx="19202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$3.1M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75488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10.7% QoQ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03720" y="128016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280160"/>
            <a:ext cx="192024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$2.9M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90372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6.5% QoQ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Revenue growth was strong through Q3 before a modest Q4 pullback.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Revenue Comparison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097280"/>
          <a:ext cx="7680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Q4 revenue declined from Q3 peak due to increased churn.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Churn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14630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600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774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+4%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Increase in Q4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393192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Drivers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29200" y="20116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expirations at renewal cycle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adjustments driving downgrades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 in mid-market segment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Retention strategy required to reverse churn trend.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Churn Breakdown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1371600" y="914400"/>
          <a:ext cx="3840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37160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0" y="1371600"/>
            <a:ext cx="27432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/>
          <p:nvPr/>
        </p:nvSpPr>
        <p:spPr>
          <a:xfrm>
            <a:off x="612648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Note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126480" y="20116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churn represents only 4% of customers, its impact on ARR is amplified due to concentration in higher-value accounts.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Small churn percentage had measurable revenue impact.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Impact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14630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00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$2.9M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Revenue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188720"/>
            <a:ext cx="256032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Shape 8"/>
          <p:cNvSpPr/>
          <p:nvPr/>
        </p:nvSpPr>
        <p:spPr>
          <a:xfrm>
            <a:off x="4160520" y="14630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002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−$0.2M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329184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QoQ Decline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26480" y="118872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1887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3"/>
          <p:cNvSpPr/>
          <p:nvPr/>
        </p:nvSpPr>
        <p:spPr>
          <a:xfrm>
            <a:off x="6995160" y="146304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0020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+4%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612648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Increase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17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Revenue sensitivity to churn underscores retention priority.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Response Plan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3258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Outreach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16276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engagement with at-risk accounts through dedicated CSM programs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194560"/>
            <a:ext cx="73152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23317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23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286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Renewal Incentives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00200" y="26334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multi-year renewal pricing and loyalty benefits to reduce churn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3200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200400"/>
            <a:ext cx="73152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333756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291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Value Reinforcement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00200" y="36393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adoption campaigns and ROI reporting to demonstrate platform value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17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Focused retention initiatives to stabilize Q1 outlook.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069080" y="64008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8229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fundamentals remain intact.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challenges are manageable and being actively addressed.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" y="3931920"/>
            <a:ext cx="64008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3931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Short-term dip, long-term growth strategy intact.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SaaS Quarterly Earnings</dc:title>
  <dc:subject>PptxGenJS Presentation</dc:subject>
  <dc:creator>CFO Office</dc:creator>
  <cp:lastModifiedBy>CFO Office</cp:lastModifiedBy>
  <cp:revision>1</cp:revision>
  <dcterms:created xsi:type="dcterms:W3CDTF">2026-02-25T00:15:35Z</dcterms:created>
  <dcterms:modified xsi:type="dcterms:W3CDTF">2026-02-25T00:15:35Z</dcterms:modified>
</cp:coreProperties>
</file>