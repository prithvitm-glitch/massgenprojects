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2.4</c:v>
                </c:pt>
                <c:pt idx="1">
                  <c:v>2.8</c:v>
                </c:pt>
                <c:pt idx="2">
                  <c:v>3.1</c:v>
                </c:pt>
                <c:pt idx="3">
                  <c:v>2.9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Churn Drivers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Budget Constraints</c:v>
                </c:pt>
                <c:pt idx="1">
                  <c:v>Competitor Switch</c:v>
                </c:pt>
                <c:pt idx="2">
                  <c:v>Business Closure</c:v>
                </c:pt>
                <c:pt idx="3">
                  <c:v>Lack of Usage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0.45</c:v>
                </c:pt>
                <c:pt idx="1">
                  <c:v>0.25</c:v>
                </c:pt>
                <c:pt idx="2">
                  <c:v>0.2</c:v>
                </c:pt>
                <c:pt idx="3">
                  <c:v>0.1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CFO Notes: 'As you can see on the chart, we experienced steady, sequential growth from Q1 through Q3, peaking at $3.1M. The Q4 revenue dip to $2.9M is a direct reflection of the 4% increase in customer churn we observed at the end of the year. This was primarily driven by end-of-year budget cuts within our mid-market segment. While disappointing, our core enterprise ARR remains stable, and we are aggressively restructuring our renewal incentives to recover this momentum in Q1.'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Q4 &amp; Full Year Earnings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SaaS Co. Financial Overview</a:t>
            </a:r>
          </a:p>
          <a:p>
            <a:r>
              <a:t>Confidential &amp; Internal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3366"/>
                </a:solidFill>
              </a:defRPr>
            </a:pPr>
            <a:r>
              <a:t>Key Takeaway: Q4 closed with $2.9M in revenue amidst a 4% churn increase.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 in Review:</a:t>
            </a:r>
          </a:p>
          <a:p>
            <a:pPr lvl="1"/>
            <a:r>
              <a:t>Strong growth through Q1-Q3, peaking at $3.1M in Q3.</a:t>
            </a:r>
          </a:p>
          <a:p>
            <a:pPr lvl="1"/>
            <a:r>
              <a:t>Q4 experienced slight contraction to $2.9M.</a:t>
            </a:r>
          </a:p>
          <a:p>
            <a:pPr lvl="1"/>
            <a:r>
              <a:t>Customer churn increased by 4% in Q4, driving the revenue dip.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3366"/>
                </a:solidFill>
              </a:defRPr>
            </a:pPr>
            <a:r>
              <a:t>Key Takeaway: While Q4 saw a slight dip, overall YoY trajectory remains strongly positive.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Revenue ($M)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371600" y="1371600"/>
          <a:ext cx="64008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3366"/>
                </a:solidFill>
              </a:defRPr>
            </a:pPr>
            <a:r>
              <a:t>Key Takeaway: Q3 marked our highest revenue quarter at $3.1M; Q4 closed at $2.9M.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Contextualizing the Q4 Dip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Drivers of the $200k drop from Q3:</a:t>
            </a:r>
          </a:p>
          <a:p>
            <a:pPr lvl="1"/>
            <a:r>
              <a:t>Macroeconomic tightening led to lower-tier subscription cancellations.</a:t>
            </a:r>
          </a:p>
          <a:p>
            <a:pPr lvl="1"/>
            <a:r>
              <a:t>4% spike in churn outpaced our new Q4 bookings.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3366"/>
                </a:solidFill>
              </a:defRPr>
            </a:pPr>
            <a:r>
              <a:t>Key Takeaway: The Q4 dip was an isolation of increased churn, not a failure in new sales.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 Customer Churn Breakdown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1828800" y="1371600"/>
          <a:ext cx="54864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3366"/>
                </a:solidFill>
              </a:defRPr>
            </a:pPr>
            <a:r>
              <a:t>Key Takeaway: Budget constraints accounted for 45% of the 4% churn increase in Q4.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 Action Plan to Combat Churn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Strategic Initiatives:</a:t>
            </a:r>
          </a:p>
          <a:p>
            <a:pPr lvl="1"/>
            <a:r>
              <a:t>Deploying Customer Success teams to high-risk accounts 90 days pre-renewal.</a:t>
            </a:r>
          </a:p>
          <a:p>
            <a:pPr lvl="1"/>
            <a:r>
              <a:t>Introducing flexible annual billing to mitigate budget constraints.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3366"/>
                </a:solidFill>
              </a:defRPr>
            </a:pPr>
            <a:r>
              <a:t>Key Takeaway: Proactive engagement is our primary lever to reverse Q4 churn trends.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FY Outlook &amp; Guidance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Q1 and Beyond:</a:t>
            </a:r>
          </a:p>
          <a:p>
            <a:pPr lvl="1"/>
            <a:r>
              <a:t>Targeting a return to $3.1M+ in Q1 through enterprise expansion.</a:t>
            </a:r>
          </a:p>
          <a:p>
            <a:pPr lvl="1"/>
            <a:r>
              <a:t>Churn expected to stabilize back to historical 1.5% average by Q2.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3366"/>
                </a:solidFill>
              </a:defRPr>
            </a:pPr>
            <a:r>
              <a:t>Key Takeaway: We expect full recovery from the Q4 dip by the close of Q1.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Questions &amp; Answers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Open floor for leadership discussion.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solidFill>
                  <a:srgbClr val="003366"/>
                </a:solidFill>
              </a:defRPr>
            </a:pPr>
            <a:r>
              <a:t>Key Takeaway: Transparency and rapid execution are key to our ongoing success.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